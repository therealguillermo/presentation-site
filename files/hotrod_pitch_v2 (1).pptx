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8" r:id="rId6"/>
    <p:sldId id="269" r:id="rId7"/>
    <p:sldId id="260" r:id="rId8"/>
    <p:sldId id="265" r:id="rId9"/>
    <p:sldId id="261" r:id="rId10"/>
    <p:sldId id="262" r:id="rId11"/>
    <p:sldId id="263" r:id="rId12"/>
    <p:sldId id="270"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F71DB0C-16F2-5C44-BD2C-C63A7F7D4367}" v="24" dt="2026-04-21T19:20:01.942"/>
    <p1510:client id="{894788F1-0327-1BF3-2354-B15B4E051361}" v="533" dt="2026-04-21T02:33:11.580"/>
    <p1510:client id="{928649F5-6F86-08D1-899A-E69431CBF2F7}" v="181" dt="2026-04-21T02:40:35.942"/>
    <p1510:client id="{C481272B-A1B8-4973-96E5-BF69543C0D78}" v="95" dt="2026-04-21T19:36:31.8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4859612E-EB8C-4181-A65F-0EC2621DF9FB}" type="datetimeFigureOut">
              <a:t>4/29/2026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155338A3-054B-4FFD-8F76-E5C31D29D38F}" type="slidenum">
              <a:t>‹#›</a:t>
            </a:fld>
            <a:endParaRPr lang="en-US"/>
          </a:p>
        </p:txBody>
      </p:sp>
    </p:spTree>
    <p:extLst>
      <p:ext uri="{BB962C8B-B14F-4D97-AF65-F5344CB8AC3E}">
        <p14:creationId xmlns:p14="http://schemas.microsoft.com/office/powerpoint/2010/main" val="35615220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BBAD0-44AD-E201-C831-019D1FBF6A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FE3E90-F184-6F3B-E9E8-4A3C7DF682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E3ED72-D2CD-541D-CDAE-13281BA9CB3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E8051BA-3D3C-3A27-BF35-CC049A6367E2}"/>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159280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2932E-7A4A-AED1-1493-9533AB2FEF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B304A1-7F03-5E67-60E9-2263A24BDE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8F0191-AE84-CEBA-3497-943DEE40C33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ED38261-3D34-2871-B6BA-B0ED16DB66BF}"/>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9975297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Our prototype had 3 different iterations one in which we just had an exposed coil but that’s dangerous so we enclosed the coil. That was still slightly dangerous as the wire wasn’t stuck to anything permeant. SO, we and switched to a heater pads which can be stuck onto the wall. We then added a different fan to blow </a:t>
            </a:r>
            <a:r>
              <a:rPr lang="en-US" err="1"/>
              <a:t>ir</a:t>
            </a:r>
            <a:r>
              <a:rPr lang="en-US"/>
              <a:t> and make sure that the entire system was enclosed and safe. As you can see the heaters heat the air and then blow it out the sides in the pipe. His way the air can flow directly onto a person hands. For future prototypes we will be adding and an adjustable base to account for different keyboard sizes and heights. We will also be improving the heating system as it currently takes some time to het up. We will also be adding a custom PCB to reduce cos and make the system more compact and efficient. We will also improve the fan’s power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is design of he custom PCB. Due to time constraints we were unable to get on shipped in time as the take around 2 to 3 weeks to delivery. For bulk pricing of the PCB is around 2 dollars and 80 cents. We also </a:t>
            </a:r>
            <a:r>
              <a:rPr lang="en-US" err="1"/>
              <a:t>ave</a:t>
            </a:r>
            <a:r>
              <a:rPr lang="en-US"/>
              <a:t> the cogs over here on the right which is around 8.90 for the whole device This </a:t>
            </a:r>
            <a:r>
              <a:rPr lang="en-US" err="1"/>
              <a:t>si</a:t>
            </a:r>
            <a:r>
              <a:rPr lang="en-US"/>
              <a:t> with bulk purchasing in mind so all the prices are reduced. 3D </a:t>
            </a:r>
            <a:r>
              <a:rPr lang="en-US" err="1"/>
              <a:t>pringint</a:t>
            </a:r>
            <a:r>
              <a:rPr lang="en-US"/>
              <a:t> he housing and the stand allow for the product to be made a reduced cost </a:t>
            </a:r>
            <a:r>
              <a:rPr lang="en-US" err="1"/>
              <a:t>aswell</a:t>
            </a:r>
            <a:r>
              <a:rPr lang="en-US"/>
              <a:t>. We decide that our </a:t>
            </a:r>
            <a:r>
              <a:rPr lang="en-US" err="1"/>
              <a:t>slale</a:t>
            </a:r>
            <a:r>
              <a:rPr lang="en-US"/>
              <a:t> price is going to be 44.99. Reasoning for pricing is that most keyboard accessories are in the 30 to 50 range. So our </a:t>
            </a:r>
            <a:r>
              <a:rPr lang="en-US" err="1"/>
              <a:t>pricice</a:t>
            </a:r>
            <a:r>
              <a:rPr lang="en-US"/>
              <a:t> would not standout compared to them. We also want to keep it a bit lower when getting the first sales as we have no reviews yet. The Price start low until get around 30 </a:t>
            </a:r>
            <a:r>
              <a:rPr lang="en-US" err="1"/>
              <a:t>reiviews</a:t>
            </a:r>
            <a:r>
              <a:rPr lang="en-US"/>
              <a:t> then can move higher and test some variable pricing to determine the  best option. The profit </a:t>
            </a:r>
            <a:r>
              <a:rPr lang="en-US" err="1"/>
              <a:t>margain</a:t>
            </a:r>
            <a:r>
              <a:rPr lang="en-US"/>
              <a:t> is around 54% which is very good for a new product/ small business.</a:t>
            </a:r>
          </a:p>
        </p:txBody>
      </p:sp>
      <p:sp>
        <p:nvSpPr>
          <p:cNvPr id="4" name="Slide Number Placeholder 3"/>
          <p:cNvSpPr>
            <a:spLocks noGrp="1"/>
          </p:cNvSpPr>
          <p:nvPr>
            <p:ph type="sldNum" sz="quarter" idx="5"/>
          </p:nvPr>
        </p:nvSpPr>
        <p:spPr/>
        <p:txBody>
          <a:bodyPr/>
          <a:lstStyle/>
          <a:p>
            <a:fld id="{155338A3-054B-4FFD-8F76-E5C31D29D38F}" type="slidenum">
              <a:rPr lang="en-US" smtClean="0"/>
              <a:t>8</a:t>
            </a:fld>
            <a:endParaRPr lang="en-US"/>
          </a:p>
        </p:txBody>
      </p:sp>
    </p:spTree>
    <p:extLst>
      <p:ext uri="{BB962C8B-B14F-4D97-AF65-F5344CB8AC3E}">
        <p14:creationId xmlns:p14="http://schemas.microsoft.com/office/powerpoint/2010/main" val="25709740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Mike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Yash</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Yash</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FE545-C93B-B485-5328-7BC406F055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00F550-AC9C-5583-7294-41C5551FBB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FF9725-46D0-56E9-70D5-2DA555D10D07}"/>
              </a:ext>
            </a:extLst>
          </p:cNvPr>
          <p:cNvSpPr>
            <a:spLocks noGrp="1"/>
          </p:cNvSpPr>
          <p:nvPr>
            <p:ph type="body" idx="1"/>
          </p:nvPr>
        </p:nvSpPr>
        <p:spPr/>
        <p:txBody>
          <a:bodyPr/>
          <a:lstStyle/>
          <a:p>
            <a:r>
              <a:rPr lang="en-US"/>
              <a:t>Yash</a:t>
            </a:r>
          </a:p>
        </p:txBody>
      </p:sp>
      <p:sp>
        <p:nvSpPr>
          <p:cNvPr id="4" name="Slide Number Placeholder 3">
            <a:extLst>
              <a:ext uri="{FF2B5EF4-FFF2-40B4-BE49-F238E27FC236}">
                <a16:creationId xmlns:a16="http://schemas.microsoft.com/office/drawing/2014/main" id="{CB83269A-04BB-2D20-46A7-0C3A9282FAA6}"/>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582793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5.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C00000"/>
          </a:solidFill>
          <a:ln w="12700">
            <a:solidFill>
              <a:srgbClr val="E84B25"/>
            </a:solidFill>
            <a:prstDash val="solid"/>
          </a:ln>
        </p:spPr>
        <p:txBody>
          <a:bodyPr/>
          <a:lstStyle/>
          <a:p>
            <a:endParaRPr lang="en-US"/>
          </a:p>
        </p:txBody>
      </p:sp>
      <p:sp>
        <p:nvSpPr>
          <p:cNvPr id="3" name="Text 1"/>
          <p:cNvSpPr/>
          <p:nvPr/>
        </p:nvSpPr>
        <p:spPr>
          <a:xfrm>
            <a:off x="411480" y="594360"/>
            <a:ext cx="6400800" cy="1463040"/>
          </a:xfrm>
          <a:prstGeom prst="rect">
            <a:avLst/>
          </a:prstGeom>
          <a:noFill/>
          <a:ln/>
        </p:spPr>
        <p:txBody>
          <a:bodyPr wrap="square" lIns="91440" tIns="45720" rIns="91440" bIns="45720" rtlCol="0" anchor="ctr"/>
          <a:lstStyle/>
          <a:p>
            <a:pPr marL="0" indent="0">
              <a:buNone/>
            </a:pPr>
            <a:r>
              <a:rPr lang="en-US" sz="8000" b="1">
                <a:latin typeface="Arial Black"/>
                <a:ea typeface="Arial Black" pitchFamily="34" charset="-122"/>
                <a:cs typeface="Arial Black" pitchFamily="34" charset="-120"/>
              </a:rPr>
              <a:t>HOT ROD</a:t>
            </a:r>
            <a:endParaRPr lang="en-US" sz="8000">
              <a:latin typeface="Arial Black"/>
              <a:ea typeface="Calibri"/>
              <a:cs typeface="Calibri"/>
            </a:endParaRPr>
          </a:p>
        </p:txBody>
      </p:sp>
      <p:sp>
        <p:nvSpPr>
          <p:cNvPr id="4" name="Text 2"/>
          <p:cNvSpPr/>
          <p:nvPr/>
        </p:nvSpPr>
        <p:spPr>
          <a:xfrm>
            <a:off x="411480" y="2103120"/>
            <a:ext cx="5486400" cy="548640"/>
          </a:xfrm>
          <a:prstGeom prst="rect">
            <a:avLst/>
          </a:prstGeom>
          <a:noFill/>
          <a:ln/>
        </p:spPr>
        <p:txBody>
          <a:bodyPr wrap="square" lIns="91440" tIns="45720" rIns="91440" bIns="45720" rtlCol="0" anchor="ctr"/>
          <a:lstStyle/>
          <a:p>
            <a:pPr marL="0" indent="0">
              <a:buNone/>
            </a:pPr>
            <a:endParaRPr lang="en-US" sz="2600" i="1">
              <a:solidFill>
                <a:srgbClr val="C00000"/>
              </a:solidFill>
              <a:latin typeface="Calibri"/>
              <a:ea typeface="Calibri"/>
              <a:cs typeface="Calibri"/>
            </a:endParaRPr>
          </a:p>
        </p:txBody>
      </p:sp>
      <p:sp>
        <p:nvSpPr>
          <p:cNvPr id="5" name="Text 3"/>
          <p:cNvSpPr/>
          <p:nvPr/>
        </p:nvSpPr>
        <p:spPr>
          <a:xfrm>
            <a:off x="411480" y="2377954"/>
            <a:ext cx="5486400" cy="822960"/>
          </a:xfrm>
          <a:prstGeom prst="rect">
            <a:avLst/>
          </a:prstGeom>
          <a:noFill/>
          <a:ln/>
        </p:spPr>
        <p:txBody>
          <a:bodyPr wrap="square" lIns="91440" tIns="45720" rIns="91440" bIns="45720" rtlCol="0" anchor="ctr"/>
          <a:lstStyle/>
          <a:p>
            <a:pPr marL="0" indent="0">
              <a:buNone/>
            </a:pPr>
            <a:r>
              <a:rPr lang="en-US" sz="1400">
                <a:latin typeface="Calibri"/>
                <a:ea typeface="Calibri"/>
                <a:cs typeface="Calibri"/>
              </a:rPr>
              <a:t>A keyboard-integrated hand-warming solution</a:t>
            </a:r>
          </a:p>
          <a:p>
            <a:pPr marL="0" indent="0">
              <a:buNone/>
            </a:pPr>
            <a:r>
              <a:rPr lang="en-US" sz="1400">
                <a:latin typeface="Calibri"/>
                <a:ea typeface="Calibri"/>
                <a:cs typeface="Calibri"/>
              </a:rPr>
              <a:t>for Raynaud's Syndrome and cold environments.</a:t>
            </a:r>
          </a:p>
        </p:txBody>
      </p:sp>
      <p:pic>
        <p:nvPicPr>
          <p:cNvPr id="6" name="Image 0" descr="preencoded.png"/>
          <p:cNvPicPr>
            <a:picLocks noChangeAspect="1"/>
          </p:cNvPicPr>
          <p:nvPr/>
        </p:nvPicPr>
        <p:blipFill>
          <a:blip r:embed="rId3"/>
          <a:stretch>
            <a:fillRect/>
          </a:stretch>
        </p:blipFill>
        <p:spPr>
          <a:xfrm>
            <a:off x="6309360" y="914400"/>
            <a:ext cx="2468880" cy="2468880"/>
          </a:xfrm>
          <a:prstGeom prst="rect">
            <a:avLst/>
          </a:prstGeom>
        </p:spPr>
      </p:pic>
      <p:sp>
        <p:nvSpPr>
          <p:cNvPr id="7" name="Shape 4"/>
          <p:cNvSpPr/>
          <p:nvPr/>
        </p:nvSpPr>
        <p:spPr>
          <a:xfrm>
            <a:off x="0" y="4754880"/>
            <a:ext cx="9144000" cy="388620"/>
          </a:xfrm>
          <a:prstGeom prst="rect">
            <a:avLst/>
          </a:prstGeom>
          <a:solidFill>
            <a:srgbClr val="C00000"/>
          </a:solidFill>
          <a:ln w="12700">
            <a:solidFill>
              <a:srgbClr val="1E1E1E"/>
            </a:solidFill>
            <a:prstDash val="solid"/>
          </a:ln>
        </p:spPr>
        <p:txBody>
          <a:bodyPr/>
          <a:lstStyle/>
          <a:p>
            <a:endParaRPr lang="en-US"/>
          </a:p>
        </p:txBody>
      </p:sp>
      <p:sp>
        <p:nvSpPr>
          <p:cNvPr id="8" name="Text 5"/>
          <p:cNvSpPr/>
          <p:nvPr/>
        </p:nvSpPr>
        <p:spPr>
          <a:xfrm>
            <a:off x="274320" y="4754880"/>
            <a:ext cx="8595360" cy="388620"/>
          </a:xfrm>
          <a:prstGeom prst="rect">
            <a:avLst/>
          </a:prstGeom>
          <a:noFill/>
          <a:ln/>
        </p:spPr>
        <p:txBody>
          <a:bodyPr wrap="square" lIns="91440" tIns="45720" rIns="91440" bIns="45720" rtlCol="0" anchor="ctr"/>
          <a:lstStyle/>
          <a:p>
            <a:pPr marL="0" indent="0" algn="ctr">
              <a:buNone/>
            </a:pPr>
            <a:r>
              <a:rPr lang="en-US" sz="1200" b="1">
                <a:solidFill>
                  <a:schemeClr val="bg1"/>
                </a:solidFill>
                <a:latin typeface="Calibri"/>
                <a:ea typeface="Calibri"/>
                <a:cs typeface="Calibri"/>
              </a:rPr>
              <a:t>Joshua Robinson  ·  Yash Rotkar  ·  Mike Bugden  ·  Jacob Haber  ·  David Mikhaiel  |  ENGR 407  ·  Spring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3EE"/>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C00000"/>
          </a:solidFill>
          <a:ln w="12700">
            <a:solidFill>
              <a:srgbClr val="0D0D0D"/>
            </a:solidFill>
            <a:prstDash val="solid"/>
          </a:ln>
        </p:spPr>
        <p:txBody>
          <a:bodyPr/>
          <a:lstStyle/>
          <a:p>
            <a:endParaRPr lang="en-US"/>
          </a:p>
        </p:txBody>
      </p:sp>
      <p:sp>
        <p:nvSpPr>
          <p:cNvPr id="4" name="Text 2"/>
          <p:cNvSpPr/>
          <p:nvPr/>
        </p:nvSpPr>
        <p:spPr>
          <a:xfrm>
            <a:off x="411480" y="0"/>
            <a:ext cx="8321040" cy="868680"/>
          </a:xfrm>
          <a:prstGeom prst="rect">
            <a:avLst/>
          </a:prstGeom>
          <a:noFill/>
          <a:ln/>
        </p:spPr>
        <p:txBody>
          <a:bodyPr wrap="square" rtlCol="0" anchor="ctr"/>
          <a:lstStyle/>
          <a:p>
            <a:pPr marL="0" indent="0">
              <a:buNone/>
            </a:pPr>
            <a:r>
              <a:rPr lang="en-US" sz="2800" b="1">
                <a:solidFill>
                  <a:srgbClr val="F5F0EB"/>
                </a:solidFill>
                <a:latin typeface="Arial Black" pitchFamily="34" charset="0"/>
                <a:ea typeface="Arial Black" pitchFamily="34" charset="-122"/>
                <a:cs typeface="Arial Black" pitchFamily="34" charset="-120"/>
              </a:rPr>
              <a:t>Hook / Pitch</a:t>
            </a:r>
            <a:endParaRPr lang="en-US" sz="2800"/>
          </a:p>
        </p:txBody>
      </p:sp>
      <p:pic>
        <p:nvPicPr>
          <p:cNvPr id="5" name="Image 0" descr="preencoded.png"/>
          <p:cNvPicPr>
            <a:picLocks noChangeAspect="1"/>
          </p:cNvPicPr>
          <p:nvPr/>
        </p:nvPicPr>
        <p:blipFill>
          <a:blip r:embed="rId3"/>
          <a:stretch>
            <a:fillRect/>
          </a:stretch>
        </p:blipFill>
        <p:spPr>
          <a:xfrm>
            <a:off x="411480" y="1097280"/>
            <a:ext cx="502920" cy="502920"/>
          </a:xfrm>
          <a:prstGeom prst="rect">
            <a:avLst/>
          </a:prstGeom>
        </p:spPr>
      </p:pic>
      <p:sp>
        <p:nvSpPr>
          <p:cNvPr id="6" name="Text 3"/>
          <p:cNvSpPr/>
          <p:nvPr/>
        </p:nvSpPr>
        <p:spPr>
          <a:xfrm>
            <a:off x="411480" y="1691640"/>
            <a:ext cx="8321040" cy="914400"/>
          </a:xfrm>
          <a:prstGeom prst="rect">
            <a:avLst/>
          </a:prstGeom>
          <a:noFill/>
          <a:ln/>
        </p:spPr>
        <p:txBody>
          <a:bodyPr wrap="square" rtlCol="0" anchor="ctr"/>
          <a:lstStyle/>
          <a:p>
            <a:pPr marL="0" indent="0">
              <a:buNone/>
            </a:pPr>
            <a:r>
              <a:rPr lang="en-US" sz="2200" i="1">
                <a:solidFill>
                  <a:srgbClr val="1C1C1C"/>
                </a:solidFill>
                <a:latin typeface="Georgia" pitchFamily="34" charset="0"/>
                <a:ea typeface="Georgia" pitchFamily="34" charset="-122"/>
                <a:cs typeface="Georgia" pitchFamily="34" charset="-120"/>
              </a:rPr>
              <a:t>Imagine trying to work all day — but your hands are so cold they're numb and painful.</a:t>
            </a:r>
            <a:endParaRPr lang="en-US" sz="2200"/>
          </a:p>
        </p:txBody>
      </p:sp>
      <p:sp>
        <p:nvSpPr>
          <p:cNvPr id="7" name="Shape 4"/>
          <p:cNvSpPr/>
          <p:nvPr/>
        </p:nvSpPr>
        <p:spPr>
          <a:xfrm>
            <a:off x="411480" y="2697480"/>
            <a:ext cx="8321040" cy="36576"/>
          </a:xfrm>
          <a:prstGeom prst="rect">
            <a:avLst/>
          </a:prstGeom>
          <a:solidFill>
            <a:srgbClr val="DDCCBB"/>
          </a:solidFill>
          <a:ln w="12700">
            <a:solidFill>
              <a:srgbClr val="DDCCBB"/>
            </a:solidFill>
            <a:prstDash val="solid"/>
          </a:ln>
        </p:spPr>
        <p:txBody>
          <a:bodyPr/>
          <a:lstStyle/>
          <a:p>
            <a:endParaRPr lang="en-US"/>
          </a:p>
        </p:txBody>
      </p:sp>
      <p:sp>
        <p:nvSpPr>
          <p:cNvPr id="8" name="Text 5"/>
          <p:cNvSpPr/>
          <p:nvPr/>
        </p:nvSpPr>
        <p:spPr>
          <a:xfrm>
            <a:off x="411480" y="2834640"/>
            <a:ext cx="4023360" cy="411480"/>
          </a:xfrm>
          <a:prstGeom prst="rect">
            <a:avLst/>
          </a:prstGeom>
          <a:noFill/>
          <a:ln/>
        </p:spPr>
        <p:txBody>
          <a:bodyPr wrap="square" rtlCol="0" anchor="ctr"/>
          <a:lstStyle/>
          <a:p>
            <a:pPr marL="0" indent="0">
              <a:buNone/>
            </a:pPr>
            <a:r>
              <a:rPr lang="en-US" sz="1600" b="1">
                <a:solidFill>
                  <a:srgbClr val="E84B25"/>
                </a:solidFill>
                <a:latin typeface="Arial Black" pitchFamily="34" charset="0"/>
                <a:ea typeface="Arial Black" pitchFamily="34" charset="-122"/>
                <a:cs typeface="Arial Black" pitchFamily="34" charset="-120"/>
              </a:rPr>
              <a:t>The Reality</a:t>
            </a:r>
            <a:endParaRPr lang="en-US" sz="1600"/>
          </a:p>
        </p:txBody>
      </p:sp>
      <p:sp>
        <p:nvSpPr>
          <p:cNvPr id="9" name="Text 6"/>
          <p:cNvSpPr/>
          <p:nvPr/>
        </p:nvSpPr>
        <p:spPr>
          <a:xfrm>
            <a:off x="411480" y="3291840"/>
            <a:ext cx="4023360" cy="1554480"/>
          </a:xfrm>
          <a:prstGeom prst="rect">
            <a:avLst/>
          </a:prstGeom>
          <a:noFill/>
          <a:ln/>
        </p:spPr>
        <p:txBody>
          <a:bodyPr wrap="square" rtlCol="0" anchor="ctr"/>
          <a:lstStyle/>
          <a:p>
            <a:pPr marL="0" indent="0">
              <a:buNone/>
            </a:pPr>
            <a:r>
              <a:rPr lang="en-US" sz="1300">
                <a:solidFill>
                  <a:srgbClr val="444444"/>
                </a:solidFill>
                <a:latin typeface="Calibri" pitchFamily="34" charset="0"/>
                <a:ea typeface="Calibri" pitchFamily="34" charset="-122"/>
                <a:cs typeface="Calibri" pitchFamily="34" charset="-120"/>
              </a:rPr>
              <a:t>For millions of people, cold hands aren't just uncomfortable — they're a daily productivity crisis.</a:t>
            </a:r>
            <a:endParaRPr lang="en-US" sz="1300"/>
          </a:p>
          <a:p>
            <a:pPr marL="0" indent="0">
              <a:buNone/>
            </a:pPr>
            <a:endParaRPr lang="en-US" sz="1300"/>
          </a:p>
          <a:p>
            <a:pPr marL="0" indent="0">
              <a:buNone/>
            </a:pPr>
            <a:r>
              <a:rPr lang="en-US" sz="1300">
                <a:solidFill>
                  <a:srgbClr val="444444"/>
                </a:solidFill>
                <a:latin typeface="Calibri" pitchFamily="34" charset="0"/>
                <a:ea typeface="Calibri" pitchFamily="34" charset="-122"/>
                <a:cs typeface="Calibri" pitchFamily="34" charset="-120"/>
              </a:rPr>
              <a:t>Office workers lose typing speed. Students lose focus. And for those with Raynaud's Syndrome, it escalates to real, clinical pain.</a:t>
            </a:r>
            <a:endParaRPr lang="en-US" sz="1300"/>
          </a:p>
        </p:txBody>
      </p:sp>
      <p:sp>
        <p:nvSpPr>
          <p:cNvPr id="10" name="Text 7"/>
          <p:cNvSpPr/>
          <p:nvPr/>
        </p:nvSpPr>
        <p:spPr>
          <a:xfrm>
            <a:off x="4709160" y="2834640"/>
            <a:ext cx="4023360" cy="411480"/>
          </a:xfrm>
          <a:prstGeom prst="rect">
            <a:avLst/>
          </a:prstGeom>
          <a:noFill/>
          <a:ln/>
        </p:spPr>
        <p:txBody>
          <a:bodyPr wrap="square" rtlCol="0" anchor="ctr"/>
          <a:lstStyle/>
          <a:p>
            <a:pPr marL="0" indent="0">
              <a:buNone/>
            </a:pPr>
            <a:r>
              <a:rPr lang="en-US" sz="1600" b="1">
                <a:solidFill>
                  <a:srgbClr val="02C39A"/>
                </a:solidFill>
                <a:latin typeface="Arial Black" pitchFamily="34" charset="0"/>
                <a:ea typeface="Arial Black" pitchFamily="34" charset="-122"/>
                <a:cs typeface="Arial Black" pitchFamily="34" charset="-120"/>
              </a:rPr>
              <a:t>Our Answer</a:t>
            </a:r>
            <a:endParaRPr lang="en-US" sz="1600"/>
          </a:p>
        </p:txBody>
      </p:sp>
      <p:sp>
        <p:nvSpPr>
          <p:cNvPr id="11" name="Text 8"/>
          <p:cNvSpPr/>
          <p:nvPr/>
        </p:nvSpPr>
        <p:spPr>
          <a:xfrm>
            <a:off x="4709160" y="3291840"/>
            <a:ext cx="4023360" cy="1554480"/>
          </a:xfrm>
          <a:prstGeom prst="rect">
            <a:avLst/>
          </a:prstGeom>
          <a:noFill/>
          <a:ln/>
        </p:spPr>
        <p:txBody>
          <a:bodyPr wrap="square" lIns="91440" tIns="45720" rIns="91440" bIns="45720" rtlCol="0" anchor="ctr"/>
          <a:lstStyle/>
          <a:p>
            <a:pPr marL="0" indent="0">
              <a:buNone/>
            </a:pPr>
            <a:r>
              <a:rPr lang="en-US" sz="1300" b="1">
                <a:solidFill>
                  <a:srgbClr val="444444"/>
                </a:solidFill>
                <a:latin typeface="Calibri"/>
                <a:ea typeface="Calibri"/>
                <a:cs typeface="Calibri"/>
              </a:rPr>
              <a:t>We built the Hot Rod!</a:t>
            </a:r>
            <a:endParaRPr lang="en-US" sz="1300" b="1">
              <a:solidFill>
                <a:srgbClr val="444444"/>
              </a:solidFill>
              <a:ea typeface="Calibri"/>
              <a:cs typeface="Calibri"/>
            </a:endParaRPr>
          </a:p>
          <a:p>
            <a:pPr marL="0" indent="0">
              <a:buNone/>
            </a:pPr>
            <a:endParaRPr lang="en-US" sz="1300"/>
          </a:p>
          <a:p>
            <a:pPr marL="0" indent="0">
              <a:buNone/>
            </a:pPr>
            <a:r>
              <a:rPr lang="en-US" sz="1300">
                <a:solidFill>
                  <a:srgbClr val="444444"/>
                </a:solidFill>
                <a:latin typeface="Calibri" pitchFamily="34" charset="0"/>
                <a:ea typeface="Calibri" pitchFamily="34" charset="-122"/>
                <a:cs typeface="Calibri" pitchFamily="34" charset="-120"/>
              </a:rPr>
              <a:t>A keyboard-integrated heating device that keeps your hands warm, hands-free, while you work.</a:t>
            </a:r>
            <a:endParaRPr lang="en-US" sz="13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3EE"/>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C00000"/>
          </a:solidFill>
          <a:ln w="12700">
            <a:solidFill>
              <a:srgbClr val="0D0D0D"/>
            </a:solidFill>
            <a:prstDash val="solid"/>
          </a:ln>
        </p:spPr>
        <p:txBody>
          <a:bodyPr/>
          <a:lstStyle/>
          <a:p>
            <a:endParaRPr lang="en-US"/>
          </a:p>
        </p:txBody>
      </p:sp>
      <p:sp>
        <p:nvSpPr>
          <p:cNvPr id="4" name="Text 2"/>
          <p:cNvSpPr/>
          <p:nvPr/>
        </p:nvSpPr>
        <p:spPr>
          <a:xfrm>
            <a:off x="411480" y="0"/>
            <a:ext cx="8321040" cy="868680"/>
          </a:xfrm>
          <a:prstGeom prst="rect">
            <a:avLst/>
          </a:prstGeom>
          <a:noFill/>
          <a:ln/>
        </p:spPr>
        <p:txBody>
          <a:bodyPr wrap="square" lIns="91440" tIns="45720" rIns="91440" bIns="45720" rtlCol="0" anchor="ctr"/>
          <a:lstStyle/>
          <a:p>
            <a:pPr marL="0" indent="0">
              <a:buNone/>
            </a:pPr>
            <a:r>
              <a:rPr lang="en-US" sz="2800" b="1">
                <a:solidFill>
                  <a:srgbClr val="F5F0EB"/>
                </a:solidFill>
                <a:latin typeface="Arial Black"/>
                <a:ea typeface="Arial Black" pitchFamily="34" charset="-122"/>
                <a:cs typeface="Arial Black" pitchFamily="34" charset="-120"/>
              </a:rPr>
              <a:t>Identifying Problem</a:t>
            </a:r>
            <a:endParaRPr lang="en-US" sz="2800">
              <a:latin typeface="Arial Black"/>
            </a:endParaRPr>
          </a:p>
        </p:txBody>
      </p:sp>
      <p:sp>
        <p:nvSpPr>
          <p:cNvPr id="5" name="Shape 3"/>
          <p:cNvSpPr/>
          <p:nvPr/>
        </p:nvSpPr>
        <p:spPr>
          <a:xfrm>
            <a:off x="274320" y="1051560"/>
            <a:ext cx="4206240" cy="178308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6" name="Shape 4"/>
          <p:cNvSpPr/>
          <p:nvPr/>
        </p:nvSpPr>
        <p:spPr>
          <a:xfrm>
            <a:off x="274320" y="1051560"/>
            <a:ext cx="64008" cy="1783080"/>
          </a:xfrm>
          <a:prstGeom prst="rect">
            <a:avLst/>
          </a:prstGeom>
          <a:solidFill>
            <a:srgbClr val="C00000"/>
          </a:solidFill>
          <a:ln w="12700">
            <a:solidFill>
              <a:srgbClr val="E84B25"/>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438912" y="1234440"/>
            <a:ext cx="411480" cy="411480"/>
          </a:xfrm>
          <a:prstGeom prst="rect">
            <a:avLst/>
          </a:prstGeom>
        </p:spPr>
      </p:pic>
      <p:sp>
        <p:nvSpPr>
          <p:cNvPr id="8" name="Text 5"/>
          <p:cNvSpPr/>
          <p:nvPr/>
        </p:nvSpPr>
        <p:spPr>
          <a:xfrm>
            <a:off x="960120" y="1188720"/>
            <a:ext cx="3429000" cy="411480"/>
          </a:xfrm>
          <a:prstGeom prst="rect">
            <a:avLst/>
          </a:prstGeom>
          <a:noFill/>
          <a:ln/>
        </p:spPr>
        <p:txBody>
          <a:bodyPr wrap="square" rtlCol="0" anchor="ctr"/>
          <a:lstStyle/>
          <a:p>
            <a:pPr marL="0" indent="0">
              <a:buNone/>
            </a:pPr>
            <a:r>
              <a:rPr lang="en-US" sz="1300" b="1">
                <a:solidFill>
                  <a:srgbClr val="1C1C1C"/>
                </a:solidFill>
                <a:latin typeface="Calibri" pitchFamily="34" charset="0"/>
                <a:ea typeface="Calibri" pitchFamily="34" charset="-122"/>
                <a:cs typeface="Calibri" pitchFamily="34" charset="-120"/>
              </a:rPr>
              <a:t>The Body's Response</a:t>
            </a:r>
            <a:endParaRPr lang="en-US" sz="1300"/>
          </a:p>
        </p:txBody>
      </p:sp>
      <p:sp>
        <p:nvSpPr>
          <p:cNvPr id="9" name="Text 6"/>
          <p:cNvSpPr/>
          <p:nvPr/>
        </p:nvSpPr>
        <p:spPr>
          <a:xfrm>
            <a:off x="438912" y="1691640"/>
            <a:ext cx="3931920" cy="1051560"/>
          </a:xfrm>
          <a:prstGeom prst="rect">
            <a:avLst/>
          </a:prstGeom>
          <a:noFill/>
          <a:ln/>
        </p:spPr>
        <p:txBody>
          <a:bodyPr wrap="square" lIns="91440" tIns="45720" rIns="91440" bIns="45720" rtlCol="0" anchor="ctr"/>
          <a:lstStyle/>
          <a:p>
            <a:pPr marL="0" indent="0">
              <a:buNone/>
            </a:pPr>
            <a:r>
              <a:rPr lang="en-US" sz="1050">
                <a:solidFill>
                  <a:srgbClr val="555555"/>
                </a:solidFill>
                <a:latin typeface="Calibri"/>
                <a:ea typeface="Calibri"/>
                <a:cs typeface="Calibri"/>
              </a:rPr>
              <a:t>During long periods of sitting, heart rate slows and metabolic heat drops. The body pulls blood away from the fingers to protect core temperature, leaving hands cold and stiff.</a:t>
            </a:r>
            <a:endParaRPr lang="en-US" sz="1050">
              <a:latin typeface="Calibri"/>
              <a:ea typeface="Calibri"/>
              <a:cs typeface="Calibri"/>
            </a:endParaRPr>
          </a:p>
        </p:txBody>
      </p:sp>
      <p:sp>
        <p:nvSpPr>
          <p:cNvPr id="10" name="Shape 7"/>
          <p:cNvSpPr/>
          <p:nvPr/>
        </p:nvSpPr>
        <p:spPr>
          <a:xfrm>
            <a:off x="4709160" y="1051560"/>
            <a:ext cx="4206240" cy="178308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11" name="Shape 8"/>
          <p:cNvSpPr/>
          <p:nvPr/>
        </p:nvSpPr>
        <p:spPr>
          <a:xfrm>
            <a:off x="4709160" y="1051560"/>
            <a:ext cx="64008" cy="1783080"/>
          </a:xfrm>
          <a:prstGeom prst="rect">
            <a:avLst/>
          </a:prstGeom>
          <a:solidFill>
            <a:srgbClr val="C00000"/>
          </a:solidFill>
          <a:ln w="12700">
            <a:solidFill>
              <a:srgbClr val="E84B25"/>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4873752" y="1234440"/>
            <a:ext cx="411480" cy="411480"/>
          </a:xfrm>
          <a:prstGeom prst="rect">
            <a:avLst/>
          </a:prstGeom>
        </p:spPr>
      </p:pic>
      <p:sp>
        <p:nvSpPr>
          <p:cNvPr id="13" name="Text 9"/>
          <p:cNvSpPr/>
          <p:nvPr/>
        </p:nvSpPr>
        <p:spPr>
          <a:xfrm>
            <a:off x="5394960" y="1188720"/>
            <a:ext cx="3429000" cy="411480"/>
          </a:xfrm>
          <a:prstGeom prst="rect">
            <a:avLst/>
          </a:prstGeom>
          <a:noFill/>
          <a:ln/>
        </p:spPr>
        <p:txBody>
          <a:bodyPr wrap="square" rtlCol="0" anchor="ctr"/>
          <a:lstStyle/>
          <a:p>
            <a:pPr marL="0" indent="0">
              <a:buNone/>
            </a:pPr>
            <a:r>
              <a:rPr lang="en-US" sz="1300" b="1">
                <a:solidFill>
                  <a:srgbClr val="1C1C1C"/>
                </a:solidFill>
                <a:latin typeface="Calibri" pitchFamily="34" charset="0"/>
                <a:ea typeface="Calibri" pitchFamily="34" charset="-122"/>
                <a:cs typeface="Calibri" pitchFamily="34" charset="-120"/>
              </a:rPr>
              <a:t>Raynaud's Makes It Worse</a:t>
            </a:r>
            <a:endParaRPr lang="en-US" sz="1300"/>
          </a:p>
        </p:txBody>
      </p:sp>
      <p:sp>
        <p:nvSpPr>
          <p:cNvPr id="14" name="Text 10"/>
          <p:cNvSpPr/>
          <p:nvPr/>
        </p:nvSpPr>
        <p:spPr>
          <a:xfrm>
            <a:off x="4873752" y="1691640"/>
            <a:ext cx="3931920" cy="1051560"/>
          </a:xfrm>
          <a:prstGeom prst="rect">
            <a:avLst/>
          </a:prstGeom>
          <a:noFill/>
          <a:ln/>
        </p:spPr>
        <p:txBody>
          <a:bodyPr wrap="square" lIns="91440" tIns="45720" rIns="91440" bIns="45720" rtlCol="0" anchor="ctr"/>
          <a:lstStyle/>
          <a:p>
            <a:r>
              <a:rPr lang="en-US" sz="1050">
                <a:solidFill>
                  <a:srgbClr val="555555"/>
                </a:solidFill>
                <a:latin typeface="Calibri"/>
                <a:ea typeface="Calibri"/>
                <a:cs typeface="Calibri"/>
              </a:rPr>
              <a:t>For Raynaud's sufferers, cold triggers blood vessels to clamp down severely, causing numbness, tingling, pain, and discoloration. Fine motor movements like typing become extremely difficult.</a:t>
            </a:r>
            <a:endParaRPr lang="en-US" sz="1050">
              <a:latin typeface="Calibri"/>
              <a:ea typeface="Calibri"/>
              <a:cs typeface="Calibri"/>
            </a:endParaRPr>
          </a:p>
        </p:txBody>
      </p:sp>
      <p:sp>
        <p:nvSpPr>
          <p:cNvPr id="15" name="Shape 11"/>
          <p:cNvSpPr/>
          <p:nvPr/>
        </p:nvSpPr>
        <p:spPr>
          <a:xfrm>
            <a:off x="274320" y="3017520"/>
            <a:ext cx="4206240" cy="178308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16" name="Shape 12"/>
          <p:cNvSpPr/>
          <p:nvPr/>
        </p:nvSpPr>
        <p:spPr>
          <a:xfrm>
            <a:off x="274320" y="3017520"/>
            <a:ext cx="64008" cy="1783080"/>
          </a:xfrm>
          <a:prstGeom prst="rect">
            <a:avLst/>
          </a:prstGeom>
          <a:solidFill>
            <a:srgbClr val="C00000"/>
          </a:solidFill>
          <a:ln w="12700">
            <a:solidFill>
              <a:srgbClr val="E84B25"/>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438912" y="3200400"/>
            <a:ext cx="411480" cy="411480"/>
          </a:xfrm>
          <a:prstGeom prst="rect">
            <a:avLst/>
          </a:prstGeom>
        </p:spPr>
      </p:pic>
      <p:sp>
        <p:nvSpPr>
          <p:cNvPr id="18" name="Text 13"/>
          <p:cNvSpPr/>
          <p:nvPr/>
        </p:nvSpPr>
        <p:spPr>
          <a:xfrm>
            <a:off x="960120" y="3154680"/>
            <a:ext cx="3429000" cy="411480"/>
          </a:xfrm>
          <a:prstGeom prst="rect">
            <a:avLst/>
          </a:prstGeom>
          <a:noFill/>
          <a:ln/>
        </p:spPr>
        <p:txBody>
          <a:bodyPr wrap="square" rtlCol="0" anchor="ctr"/>
          <a:lstStyle/>
          <a:p>
            <a:pPr marL="0" indent="0">
              <a:buNone/>
            </a:pPr>
            <a:r>
              <a:rPr lang="en-US" sz="1300" b="1">
                <a:solidFill>
                  <a:srgbClr val="1C1C1C"/>
                </a:solidFill>
                <a:latin typeface="Calibri" pitchFamily="34" charset="0"/>
                <a:ea typeface="Calibri" pitchFamily="34" charset="-122"/>
                <a:cs typeface="Calibri" pitchFamily="34" charset="-120"/>
              </a:rPr>
              <a:t>Workspaces Aren't Designed for This</a:t>
            </a:r>
            <a:endParaRPr lang="en-US" sz="1300"/>
          </a:p>
        </p:txBody>
      </p:sp>
      <p:sp>
        <p:nvSpPr>
          <p:cNvPr id="19" name="Text 14"/>
          <p:cNvSpPr/>
          <p:nvPr/>
        </p:nvSpPr>
        <p:spPr>
          <a:xfrm>
            <a:off x="438912" y="3657600"/>
            <a:ext cx="3931920" cy="1051560"/>
          </a:xfrm>
          <a:prstGeom prst="rect">
            <a:avLst/>
          </a:prstGeom>
          <a:noFill/>
          <a:ln/>
        </p:spPr>
        <p:txBody>
          <a:bodyPr wrap="square" rtlCol="0" anchor="ctr"/>
          <a:lstStyle/>
          <a:p>
            <a:pPr marL="0" indent="0">
              <a:buNone/>
            </a:pPr>
            <a:r>
              <a:rPr lang="en-US" sz="1050">
                <a:solidFill>
                  <a:srgbClr val="555555"/>
                </a:solidFill>
                <a:latin typeface="Calibri" pitchFamily="34" charset="0"/>
                <a:ea typeface="Calibri" pitchFamily="34" charset="-122"/>
                <a:cs typeface="Calibri" pitchFamily="34" charset="-120"/>
              </a:rPr>
              <a:t>Bundling up in a jacket can warm the core but does nothing for exposed hands. Thick layers can even restrict circulation at the shoulder, worsening the problem.</a:t>
            </a:r>
            <a:endParaRPr lang="en-US" sz="1050"/>
          </a:p>
        </p:txBody>
      </p:sp>
      <p:sp>
        <p:nvSpPr>
          <p:cNvPr id="20" name="Shape 15"/>
          <p:cNvSpPr/>
          <p:nvPr/>
        </p:nvSpPr>
        <p:spPr>
          <a:xfrm>
            <a:off x="4709160" y="3017520"/>
            <a:ext cx="4206240" cy="178308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21" name="Shape 16"/>
          <p:cNvSpPr/>
          <p:nvPr/>
        </p:nvSpPr>
        <p:spPr>
          <a:xfrm>
            <a:off x="4709160" y="3017520"/>
            <a:ext cx="64008" cy="1783080"/>
          </a:xfrm>
          <a:prstGeom prst="rect">
            <a:avLst/>
          </a:prstGeom>
          <a:solidFill>
            <a:srgbClr val="C00000"/>
          </a:solidFill>
          <a:ln w="12700">
            <a:solidFill>
              <a:srgbClr val="E84B25"/>
            </a:solidFill>
            <a:prstDash val="solid"/>
          </a:ln>
        </p:spPr>
        <p:txBody>
          <a:bodyPr/>
          <a:lstStyle/>
          <a:p>
            <a:endParaRPr lang="en-US"/>
          </a:p>
        </p:txBody>
      </p:sp>
      <p:pic>
        <p:nvPicPr>
          <p:cNvPr id="22" name="Image 3" descr="preencoded.png"/>
          <p:cNvPicPr>
            <a:picLocks noChangeAspect="1"/>
          </p:cNvPicPr>
          <p:nvPr/>
        </p:nvPicPr>
        <p:blipFill>
          <a:blip r:embed="rId6"/>
          <a:stretch>
            <a:fillRect/>
          </a:stretch>
        </p:blipFill>
        <p:spPr>
          <a:xfrm>
            <a:off x="4873752" y="3200400"/>
            <a:ext cx="411480" cy="411480"/>
          </a:xfrm>
          <a:prstGeom prst="rect">
            <a:avLst/>
          </a:prstGeom>
        </p:spPr>
      </p:pic>
      <p:sp>
        <p:nvSpPr>
          <p:cNvPr id="23" name="Text 17"/>
          <p:cNvSpPr/>
          <p:nvPr/>
        </p:nvSpPr>
        <p:spPr>
          <a:xfrm>
            <a:off x="5394960" y="3154680"/>
            <a:ext cx="3429000" cy="411480"/>
          </a:xfrm>
          <a:prstGeom prst="rect">
            <a:avLst/>
          </a:prstGeom>
          <a:noFill/>
          <a:ln/>
        </p:spPr>
        <p:txBody>
          <a:bodyPr wrap="square" rtlCol="0" anchor="ctr"/>
          <a:lstStyle/>
          <a:p>
            <a:pPr marL="0" indent="0">
              <a:buNone/>
            </a:pPr>
            <a:r>
              <a:rPr lang="en-US" sz="1300" b="1">
                <a:solidFill>
                  <a:srgbClr val="1C1C1C"/>
                </a:solidFill>
                <a:latin typeface="Calibri" pitchFamily="34" charset="0"/>
                <a:ea typeface="Calibri" pitchFamily="34" charset="-122"/>
                <a:cs typeface="Calibri" pitchFamily="34" charset="-120"/>
              </a:rPr>
              <a:t>Current Solutions Fail</a:t>
            </a:r>
            <a:endParaRPr lang="en-US" sz="1300"/>
          </a:p>
        </p:txBody>
      </p:sp>
      <p:sp>
        <p:nvSpPr>
          <p:cNvPr id="24" name="Text 18"/>
          <p:cNvSpPr/>
          <p:nvPr/>
        </p:nvSpPr>
        <p:spPr>
          <a:xfrm>
            <a:off x="4873752" y="3657600"/>
            <a:ext cx="3931920" cy="1051560"/>
          </a:xfrm>
          <a:prstGeom prst="rect">
            <a:avLst/>
          </a:prstGeom>
          <a:noFill/>
          <a:ln/>
        </p:spPr>
        <p:txBody>
          <a:bodyPr wrap="square" rtlCol="0" anchor="ctr"/>
          <a:lstStyle/>
          <a:p>
            <a:pPr marL="0" indent="0">
              <a:buNone/>
            </a:pPr>
            <a:r>
              <a:rPr lang="en-US" sz="1050">
                <a:solidFill>
                  <a:srgbClr val="555555"/>
                </a:solidFill>
                <a:latin typeface="Calibri" pitchFamily="34" charset="0"/>
                <a:ea typeface="Calibri" pitchFamily="34" charset="-122"/>
                <a:cs typeface="Calibri" pitchFamily="34" charset="-120"/>
              </a:rPr>
              <a:t>Fingerless gloves add bulk and increase typing errors. Space heaters are inefficient, heat entire rooms, and are banned in most offices due to fire risk and power draw.</a:t>
            </a:r>
            <a:endParaRPr lang="en-US" sz="105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C00000"/>
          </a:solidFill>
          <a:ln w="12700">
            <a:solidFill>
              <a:srgbClr val="0D0D0D"/>
            </a:solidFill>
            <a:prstDash val="solid"/>
          </a:ln>
        </p:spPr>
        <p:txBody>
          <a:bodyPr/>
          <a:lstStyle/>
          <a:p>
            <a:endParaRPr lang="en-US"/>
          </a:p>
        </p:txBody>
      </p:sp>
      <p:sp>
        <p:nvSpPr>
          <p:cNvPr id="4" name="Text 2"/>
          <p:cNvSpPr/>
          <p:nvPr/>
        </p:nvSpPr>
        <p:spPr>
          <a:xfrm>
            <a:off x="411480" y="0"/>
            <a:ext cx="8321040" cy="868680"/>
          </a:xfrm>
          <a:prstGeom prst="rect">
            <a:avLst/>
          </a:prstGeom>
          <a:noFill/>
          <a:ln/>
        </p:spPr>
        <p:txBody>
          <a:bodyPr wrap="square" rtlCol="0" anchor="ctr"/>
          <a:lstStyle/>
          <a:p>
            <a:pPr marL="0" indent="0">
              <a:buNone/>
            </a:pPr>
            <a:r>
              <a:rPr lang="en-US" sz="2800" b="1">
                <a:solidFill>
                  <a:srgbClr val="F5F0EB"/>
                </a:solidFill>
                <a:latin typeface="Arial Black" pitchFamily="34" charset="0"/>
                <a:ea typeface="Arial Black" pitchFamily="34" charset="-122"/>
                <a:cs typeface="Arial Black" pitchFamily="34" charset="-120"/>
              </a:rPr>
              <a:t>Our Solution</a:t>
            </a:r>
            <a:endParaRPr lang="en-US" sz="2800"/>
          </a:p>
        </p:txBody>
      </p:sp>
      <p:sp>
        <p:nvSpPr>
          <p:cNvPr id="5" name="Text 3"/>
          <p:cNvSpPr/>
          <p:nvPr/>
        </p:nvSpPr>
        <p:spPr>
          <a:xfrm>
            <a:off x="411480" y="1051560"/>
            <a:ext cx="4754880" cy="594360"/>
          </a:xfrm>
          <a:prstGeom prst="rect">
            <a:avLst/>
          </a:prstGeom>
          <a:noFill/>
          <a:ln/>
        </p:spPr>
        <p:txBody>
          <a:bodyPr wrap="square" rtlCol="0" anchor="ctr"/>
          <a:lstStyle/>
          <a:p>
            <a:pPr marL="0" indent="0">
              <a:buNone/>
            </a:pPr>
            <a:r>
              <a:rPr lang="en-US" sz="3000" b="1">
                <a:solidFill>
                  <a:srgbClr val="E84B25"/>
                </a:solidFill>
                <a:latin typeface="Arial Black" pitchFamily="34" charset="0"/>
                <a:ea typeface="Arial Black" pitchFamily="34" charset="-122"/>
                <a:cs typeface="Arial Black" pitchFamily="34" charset="-120"/>
              </a:rPr>
              <a:t>The Hot Rod</a:t>
            </a:r>
            <a:endParaRPr lang="en-US" sz="3000"/>
          </a:p>
        </p:txBody>
      </p:sp>
      <p:sp>
        <p:nvSpPr>
          <p:cNvPr id="6" name="Text 4"/>
          <p:cNvSpPr/>
          <p:nvPr/>
        </p:nvSpPr>
        <p:spPr>
          <a:xfrm>
            <a:off x="411480" y="1691640"/>
            <a:ext cx="4754880" cy="868680"/>
          </a:xfrm>
          <a:prstGeom prst="rect">
            <a:avLst/>
          </a:prstGeom>
          <a:noFill/>
          <a:ln/>
        </p:spPr>
        <p:txBody>
          <a:bodyPr wrap="square" lIns="91440" tIns="45720" rIns="91440" bIns="45720" rtlCol="0" anchor="ctr"/>
          <a:lstStyle/>
          <a:p>
            <a:pPr marL="0" indent="0">
              <a:buNone/>
            </a:pPr>
            <a:r>
              <a:rPr lang="en-US" sz="1300">
                <a:solidFill>
                  <a:srgbClr val="F5F0EB"/>
                </a:solidFill>
                <a:latin typeface="Calibri"/>
                <a:ea typeface="Calibri"/>
                <a:cs typeface="Calibri"/>
              </a:rPr>
              <a:t>A hand-warming enclosure that delivers controlled, distributed heat directly to your hands while you type — without disrupting your workflow.</a:t>
            </a:r>
            <a:endParaRPr lang="en-US" sz="1300">
              <a:latin typeface="Calibri"/>
              <a:ea typeface="Calibri"/>
              <a:cs typeface="Calibri"/>
            </a:endParaRPr>
          </a:p>
        </p:txBody>
      </p:sp>
      <p:pic>
        <p:nvPicPr>
          <p:cNvPr id="7" name="Image 0" descr="preencoded.png"/>
          <p:cNvPicPr>
            <a:picLocks noChangeAspect="1"/>
          </p:cNvPicPr>
          <p:nvPr/>
        </p:nvPicPr>
        <p:blipFill>
          <a:blip r:embed="rId3"/>
          <a:stretch>
            <a:fillRect/>
          </a:stretch>
        </p:blipFill>
        <p:spPr>
          <a:xfrm>
            <a:off x="411480" y="2734056"/>
            <a:ext cx="310896" cy="310896"/>
          </a:xfrm>
          <a:prstGeom prst="rect">
            <a:avLst/>
          </a:prstGeom>
        </p:spPr>
      </p:pic>
      <p:sp>
        <p:nvSpPr>
          <p:cNvPr id="8" name="Text 5"/>
          <p:cNvSpPr/>
          <p:nvPr/>
        </p:nvSpPr>
        <p:spPr>
          <a:xfrm>
            <a:off x="868680" y="2697480"/>
            <a:ext cx="4297680" cy="384048"/>
          </a:xfrm>
          <a:prstGeom prst="rect">
            <a:avLst/>
          </a:prstGeom>
          <a:noFill/>
          <a:ln/>
        </p:spPr>
        <p:txBody>
          <a:bodyPr wrap="square" rtlCol="0" anchor="ctr"/>
          <a:lstStyle/>
          <a:p>
            <a:pPr marL="0" indent="0">
              <a:buNone/>
            </a:pPr>
            <a:r>
              <a:rPr lang="en-US" sz="1200">
                <a:solidFill>
                  <a:srgbClr val="9A8A7A"/>
                </a:solidFill>
                <a:latin typeface="Calibri" pitchFamily="34" charset="0"/>
                <a:ea typeface="Calibri" pitchFamily="34" charset="-122"/>
                <a:cs typeface="Calibri" pitchFamily="34" charset="-120"/>
              </a:rPr>
              <a:t>Distributed warmth along keyboard surface</a:t>
            </a:r>
            <a:endParaRPr lang="en-US" sz="1200"/>
          </a:p>
        </p:txBody>
      </p:sp>
      <p:pic>
        <p:nvPicPr>
          <p:cNvPr id="9" name="Image 1" descr="preencoded.png"/>
          <p:cNvPicPr>
            <a:picLocks noChangeAspect="1"/>
          </p:cNvPicPr>
          <p:nvPr/>
        </p:nvPicPr>
        <p:blipFill>
          <a:blip r:embed="rId4"/>
          <a:stretch>
            <a:fillRect/>
          </a:stretch>
        </p:blipFill>
        <p:spPr>
          <a:xfrm>
            <a:off x="411480" y="3191256"/>
            <a:ext cx="310896" cy="310896"/>
          </a:xfrm>
          <a:prstGeom prst="rect">
            <a:avLst/>
          </a:prstGeom>
        </p:spPr>
      </p:pic>
      <p:sp>
        <p:nvSpPr>
          <p:cNvPr id="10" name="Text 6"/>
          <p:cNvSpPr/>
          <p:nvPr/>
        </p:nvSpPr>
        <p:spPr>
          <a:xfrm>
            <a:off x="868680" y="3154680"/>
            <a:ext cx="4297680" cy="384048"/>
          </a:xfrm>
          <a:prstGeom prst="rect">
            <a:avLst/>
          </a:prstGeom>
          <a:noFill/>
          <a:ln/>
        </p:spPr>
        <p:txBody>
          <a:bodyPr wrap="square" rtlCol="0" anchor="ctr"/>
          <a:lstStyle/>
          <a:p>
            <a:pPr marL="0" indent="0">
              <a:buNone/>
            </a:pPr>
            <a:r>
              <a:rPr lang="en-US" sz="1200">
                <a:solidFill>
                  <a:srgbClr val="9A8A7A"/>
                </a:solidFill>
                <a:latin typeface="Calibri" pitchFamily="34" charset="0"/>
                <a:ea typeface="Calibri" pitchFamily="34" charset="-122"/>
                <a:cs typeface="Calibri" pitchFamily="34" charset="-120"/>
              </a:rPr>
              <a:t>User-controlled temperature via dial knob</a:t>
            </a:r>
            <a:endParaRPr lang="en-US" sz="1200"/>
          </a:p>
        </p:txBody>
      </p:sp>
      <p:pic>
        <p:nvPicPr>
          <p:cNvPr id="11" name="Image 2" descr="preencoded.png"/>
          <p:cNvPicPr>
            <a:picLocks noChangeAspect="1"/>
          </p:cNvPicPr>
          <p:nvPr/>
        </p:nvPicPr>
        <p:blipFill>
          <a:blip r:embed="rId5"/>
          <a:stretch>
            <a:fillRect/>
          </a:stretch>
        </p:blipFill>
        <p:spPr>
          <a:xfrm>
            <a:off x="411480" y="3648456"/>
            <a:ext cx="310896" cy="310896"/>
          </a:xfrm>
          <a:prstGeom prst="rect">
            <a:avLst/>
          </a:prstGeom>
        </p:spPr>
      </p:pic>
      <p:sp>
        <p:nvSpPr>
          <p:cNvPr id="12" name="Text 7"/>
          <p:cNvSpPr/>
          <p:nvPr/>
        </p:nvSpPr>
        <p:spPr>
          <a:xfrm>
            <a:off x="868680" y="3611880"/>
            <a:ext cx="4297680" cy="384048"/>
          </a:xfrm>
          <a:prstGeom prst="rect">
            <a:avLst/>
          </a:prstGeom>
          <a:noFill/>
          <a:ln/>
        </p:spPr>
        <p:txBody>
          <a:bodyPr wrap="square" rtlCol="0" anchor="ctr"/>
          <a:lstStyle/>
          <a:p>
            <a:pPr marL="0" indent="0">
              <a:buNone/>
            </a:pPr>
            <a:r>
              <a:rPr lang="en-US" sz="1200">
                <a:solidFill>
                  <a:srgbClr val="9A8A7A"/>
                </a:solidFill>
                <a:latin typeface="Calibri" pitchFamily="34" charset="0"/>
                <a:ea typeface="Calibri" pitchFamily="34" charset="-122"/>
                <a:cs typeface="Calibri" pitchFamily="34" charset="-120"/>
              </a:rPr>
              <a:t>Adjustable legs — fits any keyboard size</a:t>
            </a:r>
            <a:endParaRPr lang="en-US" sz="1200"/>
          </a:p>
        </p:txBody>
      </p:sp>
      <p:pic>
        <p:nvPicPr>
          <p:cNvPr id="13" name="Image 3" descr="preencoded.png"/>
          <p:cNvPicPr>
            <a:picLocks noChangeAspect="1"/>
          </p:cNvPicPr>
          <p:nvPr/>
        </p:nvPicPr>
        <p:blipFill>
          <a:blip r:embed="rId6"/>
          <a:stretch>
            <a:fillRect/>
          </a:stretch>
        </p:blipFill>
        <p:spPr>
          <a:xfrm>
            <a:off x="411480" y="4105656"/>
            <a:ext cx="310896" cy="310896"/>
          </a:xfrm>
          <a:prstGeom prst="rect">
            <a:avLst/>
          </a:prstGeom>
        </p:spPr>
      </p:pic>
      <p:sp>
        <p:nvSpPr>
          <p:cNvPr id="14" name="Text 8"/>
          <p:cNvSpPr/>
          <p:nvPr/>
        </p:nvSpPr>
        <p:spPr>
          <a:xfrm>
            <a:off x="868680" y="4069080"/>
            <a:ext cx="4297680" cy="384048"/>
          </a:xfrm>
          <a:prstGeom prst="rect">
            <a:avLst/>
          </a:prstGeom>
          <a:noFill/>
          <a:ln/>
        </p:spPr>
        <p:txBody>
          <a:bodyPr wrap="square" rtlCol="0" anchor="ctr"/>
          <a:lstStyle/>
          <a:p>
            <a:pPr marL="0" indent="0">
              <a:buNone/>
            </a:pPr>
            <a:r>
              <a:rPr lang="en-US" sz="1200">
                <a:solidFill>
                  <a:srgbClr val="9A8A7A"/>
                </a:solidFill>
                <a:latin typeface="Calibri" pitchFamily="34" charset="0"/>
                <a:ea typeface="Calibri" pitchFamily="34" charset="-122"/>
                <a:cs typeface="Calibri" pitchFamily="34" charset="-120"/>
              </a:rPr>
              <a:t>Enclosed fan system — no burn risk</a:t>
            </a:r>
            <a:endParaRPr lang="en-US" sz="1200"/>
          </a:p>
        </p:txBody>
      </p:sp>
      <p:pic>
        <p:nvPicPr>
          <p:cNvPr id="15" name="Image 4" descr="preencoded.png"/>
          <p:cNvPicPr>
            <a:picLocks noChangeAspect="1"/>
          </p:cNvPicPr>
          <p:nvPr/>
        </p:nvPicPr>
        <p:blipFill>
          <a:blip r:embed="rId7"/>
          <a:stretch>
            <a:fillRect/>
          </a:stretch>
        </p:blipFill>
        <p:spPr>
          <a:xfrm>
            <a:off x="411480" y="4562856"/>
            <a:ext cx="310896" cy="310896"/>
          </a:xfrm>
          <a:prstGeom prst="rect">
            <a:avLst/>
          </a:prstGeom>
        </p:spPr>
      </p:pic>
      <p:sp>
        <p:nvSpPr>
          <p:cNvPr id="16" name="Text 9"/>
          <p:cNvSpPr/>
          <p:nvPr/>
        </p:nvSpPr>
        <p:spPr>
          <a:xfrm>
            <a:off x="868680" y="4526280"/>
            <a:ext cx="4297680" cy="384048"/>
          </a:xfrm>
          <a:prstGeom prst="rect">
            <a:avLst/>
          </a:prstGeom>
          <a:noFill/>
          <a:ln/>
        </p:spPr>
        <p:txBody>
          <a:bodyPr wrap="square" rtlCol="0" anchor="ctr"/>
          <a:lstStyle/>
          <a:p>
            <a:pPr marL="0" indent="0">
              <a:buNone/>
            </a:pPr>
            <a:r>
              <a:rPr lang="en-US" sz="1200">
                <a:solidFill>
                  <a:srgbClr val="9A8A7A"/>
                </a:solidFill>
                <a:latin typeface="Calibri" pitchFamily="34" charset="0"/>
                <a:ea typeface="Calibri" pitchFamily="34" charset="-122"/>
                <a:cs typeface="Calibri" pitchFamily="34" charset="-120"/>
              </a:rPr>
              <a:t>Hands-free: works with existing setup</a:t>
            </a:r>
            <a:endParaRPr lang="en-US" sz="1200"/>
          </a:p>
        </p:txBody>
      </p:sp>
      <p:sp>
        <p:nvSpPr>
          <p:cNvPr id="17" name="Shape 10"/>
          <p:cNvSpPr/>
          <p:nvPr/>
        </p:nvSpPr>
        <p:spPr>
          <a:xfrm>
            <a:off x="5486400" y="1005840"/>
            <a:ext cx="3383280" cy="3840480"/>
          </a:xfrm>
          <a:prstGeom prst="rect">
            <a:avLst/>
          </a:prstGeom>
          <a:solidFill>
            <a:srgbClr val="1E1E1E"/>
          </a:solidFill>
          <a:ln/>
          <a:effectLst>
            <a:outerShdw blurRad="152400" dist="38100" dir="8100000" algn="bl" rotWithShape="0">
              <a:srgbClr val="000000">
                <a:alpha val="50000"/>
              </a:srgbClr>
            </a:outerShdw>
          </a:effectLst>
        </p:spPr>
        <p:txBody>
          <a:bodyPr/>
          <a:lstStyle/>
          <a:p>
            <a:endParaRPr lang="en-US"/>
          </a:p>
        </p:txBody>
      </p:sp>
      <p:sp>
        <p:nvSpPr>
          <p:cNvPr id="18" name="Shape 11"/>
          <p:cNvSpPr/>
          <p:nvPr/>
        </p:nvSpPr>
        <p:spPr>
          <a:xfrm>
            <a:off x="5486400" y="1005840"/>
            <a:ext cx="3383280" cy="64008"/>
          </a:xfrm>
          <a:prstGeom prst="rect">
            <a:avLst/>
          </a:prstGeom>
          <a:solidFill>
            <a:srgbClr val="F4A020"/>
          </a:solidFill>
          <a:ln w="12700">
            <a:solidFill>
              <a:srgbClr val="F4A020"/>
            </a:solidFill>
            <a:prstDash val="solid"/>
          </a:ln>
        </p:spPr>
        <p:txBody>
          <a:bodyPr/>
          <a:lstStyle/>
          <a:p>
            <a:endParaRPr lang="en-US"/>
          </a:p>
        </p:txBody>
      </p:sp>
      <p:sp>
        <p:nvSpPr>
          <p:cNvPr id="19" name="Text 12"/>
          <p:cNvSpPr/>
          <p:nvPr/>
        </p:nvSpPr>
        <p:spPr>
          <a:xfrm>
            <a:off x="5577840" y="1115568"/>
            <a:ext cx="3200400" cy="365760"/>
          </a:xfrm>
          <a:prstGeom prst="rect">
            <a:avLst/>
          </a:prstGeom>
          <a:noFill/>
          <a:ln/>
        </p:spPr>
        <p:txBody>
          <a:bodyPr wrap="square" rtlCol="0" anchor="ctr"/>
          <a:lstStyle/>
          <a:p>
            <a:pPr marL="0" indent="0">
              <a:buNone/>
            </a:pPr>
            <a:r>
              <a:rPr lang="en-US" sz="1000" b="1" kern="0" spc="300">
                <a:solidFill>
                  <a:srgbClr val="F4A020"/>
                </a:solidFill>
                <a:latin typeface="Calibri" pitchFamily="34" charset="0"/>
                <a:ea typeface="Calibri" pitchFamily="34" charset="-122"/>
                <a:cs typeface="Calibri" pitchFamily="34" charset="-120"/>
              </a:rPr>
              <a:t>DESIGNED FOR</a:t>
            </a:r>
            <a:endParaRPr lang="en-US" sz="1000"/>
          </a:p>
        </p:txBody>
      </p:sp>
      <p:pic>
        <p:nvPicPr>
          <p:cNvPr id="20" name="Image 5" descr="preencoded.png"/>
          <p:cNvPicPr>
            <a:picLocks noChangeAspect="1"/>
          </p:cNvPicPr>
          <p:nvPr/>
        </p:nvPicPr>
        <p:blipFill>
          <a:blip r:embed="rId3"/>
          <a:stretch>
            <a:fillRect/>
          </a:stretch>
        </p:blipFill>
        <p:spPr>
          <a:xfrm>
            <a:off x="6309360" y="1554480"/>
            <a:ext cx="1828800" cy="1828800"/>
          </a:xfrm>
          <a:prstGeom prst="rect">
            <a:avLst/>
          </a:prstGeom>
        </p:spPr>
      </p:pic>
      <p:sp>
        <p:nvSpPr>
          <p:cNvPr id="21" name="Text 13"/>
          <p:cNvSpPr/>
          <p:nvPr/>
        </p:nvSpPr>
        <p:spPr>
          <a:xfrm>
            <a:off x="5577840" y="3474720"/>
            <a:ext cx="3200400" cy="1234440"/>
          </a:xfrm>
          <a:prstGeom prst="rect">
            <a:avLst/>
          </a:prstGeom>
          <a:noFill/>
          <a:ln/>
        </p:spPr>
        <p:txBody>
          <a:bodyPr wrap="square" rtlCol="0" anchor="ctr"/>
          <a:lstStyle/>
          <a:p>
            <a:pPr marL="0" indent="0">
              <a:buNone/>
            </a:pPr>
            <a:r>
              <a:rPr lang="en-US" sz="1200">
                <a:solidFill>
                  <a:srgbClr val="9A8A7A"/>
                </a:solidFill>
                <a:latin typeface="Calibri" pitchFamily="34" charset="0"/>
                <a:ea typeface="Calibri" pitchFamily="34" charset="-122"/>
                <a:cs typeface="Calibri" pitchFamily="34" charset="-120"/>
              </a:rPr>
              <a:t>Raynaud's patients</a:t>
            </a:r>
            <a:endParaRPr lang="en-US" sz="1200"/>
          </a:p>
          <a:p>
            <a:pPr marL="0" indent="0">
              <a:buNone/>
            </a:pPr>
            <a:r>
              <a:rPr lang="en-US" sz="1200">
                <a:solidFill>
                  <a:srgbClr val="9A8A7A"/>
                </a:solidFill>
                <a:latin typeface="Calibri" pitchFamily="34" charset="0"/>
                <a:ea typeface="Calibri" pitchFamily="34" charset="-122"/>
                <a:cs typeface="Calibri" pitchFamily="34" charset="-120"/>
              </a:rPr>
              <a:t>Office workers</a:t>
            </a:r>
            <a:endParaRPr lang="en-US" sz="1200"/>
          </a:p>
          <a:p>
            <a:pPr marL="0" indent="0">
              <a:buNone/>
            </a:pPr>
            <a:r>
              <a:rPr lang="en-US" sz="1200">
                <a:solidFill>
                  <a:srgbClr val="9A8A7A"/>
                </a:solidFill>
                <a:latin typeface="Calibri" pitchFamily="34" charset="0"/>
                <a:ea typeface="Calibri" pitchFamily="34" charset="-122"/>
                <a:cs typeface="Calibri" pitchFamily="34" charset="-120"/>
              </a:rPr>
              <a:t>Students &amp; remote workers</a:t>
            </a:r>
            <a:endParaRPr lang="en-US" sz="1200"/>
          </a:p>
          <a:p>
            <a:pPr marL="0" indent="0">
              <a:buNone/>
            </a:pPr>
            <a:r>
              <a:rPr lang="en-US" sz="1200">
                <a:solidFill>
                  <a:srgbClr val="9A8A7A"/>
                </a:solidFill>
                <a:latin typeface="Calibri" pitchFamily="34" charset="0"/>
                <a:ea typeface="Calibri" pitchFamily="34" charset="-122"/>
                <a:cs typeface="Calibri" pitchFamily="34" charset="-120"/>
              </a:rPr>
              <a:t>Anyone in cold environments</a:t>
            </a:r>
            <a:endParaRPr lang="en-US" sz="12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3EE"/>
        </a:solidFill>
        <a:effectLst/>
      </p:bgPr>
    </p:bg>
    <p:spTree>
      <p:nvGrpSpPr>
        <p:cNvPr id="1" name="">
          <a:extLst>
            <a:ext uri="{FF2B5EF4-FFF2-40B4-BE49-F238E27FC236}">
              <a16:creationId xmlns:a16="http://schemas.microsoft.com/office/drawing/2014/main" id="{AFDBAEC9-E0F3-C6CD-9604-D814D6436D3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4B6CD6D-7176-2CE9-5302-0CAFC986853D}"/>
              </a:ext>
            </a:extLst>
          </p:cNvPr>
          <p:cNvSpPr/>
          <p:nvPr/>
        </p:nvSpPr>
        <p:spPr>
          <a:xfrm>
            <a:off x="0" y="0"/>
            <a:ext cx="9144000" cy="868680"/>
          </a:xfrm>
          <a:prstGeom prst="rect">
            <a:avLst/>
          </a:prstGeom>
          <a:solidFill>
            <a:srgbClr val="C00000"/>
          </a:solidFill>
          <a:ln w="12700">
            <a:solidFill>
              <a:srgbClr val="0D0D0D"/>
            </a:solidFill>
            <a:prstDash val="solid"/>
          </a:ln>
        </p:spPr>
        <p:txBody>
          <a:bodyPr/>
          <a:lstStyle/>
          <a:p>
            <a:endParaRPr lang="en-US"/>
          </a:p>
        </p:txBody>
      </p:sp>
      <p:sp>
        <p:nvSpPr>
          <p:cNvPr id="4" name="Text 2">
            <a:extLst>
              <a:ext uri="{FF2B5EF4-FFF2-40B4-BE49-F238E27FC236}">
                <a16:creationId xmlns:a16="http://schemas.microsoft.com/office/drawing/2014/main" id="{D88E21AA-BB50-DF6F-B6DA-8300891A89C7}"/>
              </a:ext>
            </a:extLst>
          </p:cNvPr>
          <p:cNvSpPr/>
          <p:nvPr/>
        </p:nvSpPr>
        <p:spPr>
          <a:xfrm>
            <a:off x="411480" y="0"/>
            <a:ext cx="8321040" cy="868680"/>
          </a:xfrm>
          <a:prstGeom prst="rect">
            <a:avLst/>
          </a:prstGeom>
          <a:noFill/>
          <a:ln/>
        </p:spPr>
        <p:txBody>
          <a:bodyPr wrap="square" lIns="91440" tIns="45720" rIns="91440" bIns="45720" rtlCol="0" anchor="ctr"/>
          <a:lstStyle/>
          <a:p>
            <a:r>
              <a:rPr lang="en-US" sz="2800" b="1">
                <a:solidFill>
                  <a:srgbClr val="F5F0EB"/>
                </a:solidFill>
                <a:latin typeface="Arial Black"/>
              </a:rPr>
              <a:t>Customer Discovery</a:t>
            </a:r>
          </a:p>
        </p:txBody>
      </p:sp>
      <p:sp>
        <p:nvSpPr>
          <p:cNvPr id="149" name="Text 2">
            <a:extLst>
              <a:ext uri="{FF2B5EF4-FFF2-40B4-BE49-F238E27FC236}">
                <a16:creationId xmlns:a16="http://schemas.microsoft.com/office/drawing/2014/main" id="{88B1729A-5BA6-C5A9-66B3-865634E48A59}"/>
              </a:ext>
            </a:extLst>
          </p:cNvPr>
          <p:cNvSpPr/>
          <p:nvPr/>
        </p:nvSpPr>
        <p:spPr>
          <a:xfrm>
            <a:off x="249405" y="974555"/>
            <a:ext cx="8503920" cy="256032"/>
          </a:xfrm>
          <a:prstGeom prst="rect">
            <a:avLst/>
          </a:prstGeom>
          <a:noFill/>
          <a:ln/>
        </p:spPr>
        <p:txBody>
          <a:bodyPr wrap="square" lIns="0" tIns="0" rIns="0" bIns="0" rtlCol="0" anchor="ctr"/>
          <a:lstStyle/>
          <a:p>
            <a:pPr marL="0" indent="0">
              <a:buNone/>
            </a:pPr>
            <a:r>
              <a:rPr lang="en-US" sz="1200" i="1">
                <a:solidFill>
                  <a:srgbClr val="666666"/>
                </a:solidFill>
                <a:latin typeface="Calibri"/>
                <a:ea typeface="Calibri"/>
                <a:cs typeface="Calibri"/>
              </a:rPr>
              <a:t>3 real interviews</a:t>
            </a:r>
            <a:endParaRPr lang="en-US" sz="1200">
              <a:latin typeface="Calibri"/>
              <a:ea typeface="Calibri"/>
              <a:cs typeface="Calibri"/>
            </a:endParaRPr>
          </a:p>
        </p:txBody>
      </p:sp>
      <p:sp>
        <p:nvSpPr>
          <p:cNvPr id="151" name="Shape 3">
            <a:extLst>
              <a:ext uri="{FF2B5EF4-FFF2-40B4-BE49-F238E27FC236}">
                <a16:creationId xmlns:a16="http://schemas.microsoft.com/office/drawing/2014/main" id="{27E6EE75-18E8-381C-221C-34D3FA49FAF1}"/>
              </a:ext>
            </a:extLst>
          </p:cNvPr>
          <p:cNvSpPr/>
          <p:nvPr/>
        </p:nvSpPr>
        <p:spPr>
          <a:xfrm>
            <a:off x="249405" y="1303739"/>
            <a:ext cx="2697480" cy="3566160"/>
          </a:xfrm>
          <a:prstGeom prst="rect">
            <a:avLst/>
          </a:prstGeom>
          <a:solidFill>
            <a:srgbClr val="FFFFFF"/>
          </a:solidFill>
          <a:ln w="12700">
            <a:solidFill>
              <a:srgbClr val="DDDDDD"/>
            </a:solidFill>
            <a:prstDash val="solid"/>
          </a:ln>
          <a:effectLst>
            <a:outerShdw blurRad="63500" dist="25400" dir="8100000" algn="bl" rotWithShape="0">
              <a:srgbClr val="000000">
                <a:alpha val="8000"/>
              </a:srgbClr>
            </a:outerShdw>
          </a:effectLst>
        </p:spPr>
        <p:txBody>
          <a:bodyPr/>
          <a:lstStyle/>
          <a:p>
            <a:endParaRPr lang="en-US"/>
          </a:p>
        </p:txBody>
      </p:sp>
      <p:sp>
        <p:nvSpPr>
          <p:cNvPr id="153" name="Shape 4">
            <a:extLst>
              <a:ext uri="{FF2B5EF4-FFF2-40B4-BE49-F238E27FC236}">
                <a16:creationId xmlns:a16="http://schemas.microsoft.com/office/drawing/2014/main" id="{D7B395CC-ED00-8AA8-7848-6B2ACCA4F417}"/>
              </a:ext>
            </a:extLst>
          </p:cNvPr>
          <p:cNvSpPr/>
          <p:nvPr/>
        </p:nvSpPr>
        <p:spPr>
          <a:xfrm>
            <a:off x="249405" y="1303739"/>
            <a:ext cx="64008" cy="3566160"/>
          </a:xfrm>
          <a:prstGeom prst="rect">
            <a:avLst/>
          </a:prstGeom>
          <a:solidFill>
            <a:srgbClr val="990011"/>
          </a:solidFill>
          <a:ln w="12700">
            <a:solidFill>
              <a:srgbClr val="990011"/>
            </a:solidFill>
            <a:prstDash val="solid"/>
          </a:ln>
        </p:spPr>
        <p:txBody>
          <a:bodyPr/>
          <a:lstStyle/>
          <a:p>
            <a:endParaRPr lang="en-US"/>
          </a:p>
        </p:txBody>
      </p:sp>
      <p:sp>
        <p:nvSpPr>
          <p:cNvPr id="155" name="Shape 5">
            <a:extLst>
              <a:ext uri="{FF2B5EF4-FFF2-40B4-BE49-F238E27FC236}">
                <a16:creationId xmlns:a16="http://schemas.microsoft.com/office/drawing/2014/main" id="{2C4DE62B-8BA3-A621-ED3E-E5E0D616A22E}"/>
              </a:ext>
            </a:extLst>
          </p:cNvPr>
          <p:cNvSpPr/>
          <p:nvPr/>
        </p:nvSpPr>
        <p:spPr>
          <a:xfrm>
            <a:off x="386565" y="1468331"/>
            <a:ext cx="475488" cy="475488"/>
          </a:xfrm>
          <a:prstGeom prst="ellipse">
            <a:avLst/>
          </a:prstGeom>
          <a:solidFill>
            <a:srgbClr val="990011"/>
          </a:solidFill>
          <a:ln w="12700">
            <a:solidFill>
              <a:srgbClr val="990011"/>
            </a:solidFill>
            <a:prstDash val="solid"/>
          </a:ln>
        </p:spPr>
        <p:txBody>
          <a:bodyPr/>
          <a:lstStyle/>
          <a:p>
            <a:endParaRPr lang="en-US"/>
          </a:p>
        </p:txBody>
      </p:sp>
      <p:sp>
        <p:nvSpPr>
          <p:cNvPr id="157" name="Text 6">
            <a:extLst>
              <a:ext uri="{FF2B5EF4-FFF2-40B4-BE49-F238E27FC236}">
                <a16:creationId xmlns:a16="http://schemas.microsoft.com/office/drawing/2014/main" id="{64813069-F79D-0211-8E6E-08A476E945AB}"/>
              </a:ext>
            </a:extLst>
          </p:cNvPr>
          <p:cNvSpPr/>
          <p:nvPr/>
        </p:nvSpPr>
        <p:spPr>
          <a:xfrm>
            <a:off x="388063" y="1469829"/>
            <a:ext cx="475488" cy="475488"/>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49F</a:t>
            </a:r>
            <a:endParaRPr lang="en-US" sz="1000"/>
          </a:p>
        </p:txBody>
      </p:sp>
      <p:sp>
        <p:nvSpPr>
          <p:cNvPr id="159" name="Text 7">
            <a:extLst>
              <a:ext uri="{FF2B5EF4-FFF2-40B4-BE49-F238E27FC236}">
                <a16:creationId xmlns:a16="http://schemas.microsoft.com/office/drawing/2014/main" id="{4B3F73B6-F152-72B4-CA1E-589AE6F87B52}"/>
              </a:ext>
            </a:extLst>
          </p:cNvPr>
          <p:cNvSpPr/>
          <p:nvPr/>
        </p:nvSpPr>
        <p:spPr>
          <a:xfrm>
            <a:off x="907773" y="1486619"/>
            <a:ext cx="1920240" cy="256032"/>
          </a:xfrm>
          <a:prstGeom prst="rect">
            <a:avLst/>
          </a:prstGeom>
          <a:noFill/>
          <a:ln/>
        </p:spPr>
        <p:txBody>
          <a:bodyPr wrap="square" lIns="0" tIns="0" rIns="0" bIns="0" rtlCol="0" anchor="ctr"/>
          <a:lstStyle/>
          <a:p>
            <a:pPr marL="0" indent="0">
              <a:buNone/>
            </a:pPr>
            <a:r>
              <a:rPr lang="en-US" sz="1300" b="1">
                <a:solidFill>
                  <a:srgbClr val="222222"/>
                </a:solidFill>
                <a:latin typeface="Calibri" pitchFamily="34" charset="0"/>
                <a:ea typeface="Calibri" pitchFamily="34" charset="-122"/>
                <a:cs typeface="Calibri" pitchFamily="34" charset="-120"/>
              </a:rPr>
              <a:t>Interior Designer</a:t>
            </a:r>
            <a:endParaRPr lang="en-US" sz="1300"/>
          </a:p>
        </p:txBody>
      </p:sp>
      <p:sp>
        <p:nvSpPr>
          <p:cNvPr id="161" name="Text 8">
            <a:extLst>
              <a:ext uri="{FF2B5EF4-FFF2-40B4-BE49-F238E27FC236}">
                <a16:creationId xmlns:a16="http://schemas.microsoft.com/office/drawing/2014/main" id="{7A0E35B4-2794-3F9F-F8AE-E1E540A7E8BC}"/>
              </a:ext>
            </a:extLst>
          </p:cNvPr>
          <p:cNvSpPr/>
          <p:nvPr/>
        </p:nvSpPr>
        <p:spPr>
          <a:xfrm>
            <a:off x="907773" y="1733507"/>
            <a:ext cx="1920240" cy="201168"/>
          </a:xfrm>
          <a:prstGeom prst="rect">
            <a:avLst/>
          </a:prstGeom>
          <a:noFill/>
          <a:ln/>
        </p:spPr>
        <p:txBody>
          <a:bodyPr wrap="square" lIns="0" tIns="0" rIns="0" bIns="0" rtlCol="0" anchor="ctr"/>
          <a:lstStyle/>
          <a:p>
            <a:pPr marL="0" indent="0">
              <a:buNone/>
            </a:pPr>
            <a:r>
              <a:rPr lang="en-US" sz="1000" b="1">
                <a:solidFill>
                  <a:srgbClr val="990011"/>
                </a:solidFill>
                <a:latin typeface="Calibri" pitchFamily="34" charset="0"/>
                <a:ea typeface="Calibri" pitchFamily="34" charset="-122"/>
                <a:cs typeface="Calibri" pitchFamily="34" charset="-120"/>
              </a:rPr>
              <a:t>Diagnosed Raynaud's Syndrome</a:t>
            </a:r>
            <a:endParaRPr lang="en-US" sz="1000"/>
          </a:p>
        </p:txBody>
      </p:sp>
      <p:sp>
        <p:nvSpPr>
          <p:cNvPr id="163" name="Shape 9">
            <a:extLst>
              <a:ext uri="{FF2B5EF4-FFF2-40B4-BE49-F238E27FC236}">
                <a16:creationId xmlns:a16="http://schemas.microsoft.com/office/drawing/2014/main" id="{972CB3A8-96A1-F26F-7247-CE333A4FAD7B}"/>
              </a:ext>
            </a:extLst>
          </p:cNvPr>
          <p:cNvSpPr/>
          <p:nvPr/>
        </p:nvSpPr>
        <p:spPr>
          <a:xfrm>
            <a:off x="386565" y="2080979"/>
            <a:ext cx="2496312" cy="0"/>
          </a:xfrm>
          <a:prstGeom prst="line">
            <a:avLst/>
          </a:prstGeom>
          <a:noFill/>
          <a:ln w="12700">
            <a:solidFill>
              <a:srgbClr val="EEEEEE"/>
            </a:solidFill>
            <a:prstDash val="solid"/>
          </a:ln>
        </p:spPr>
        <p:txBody>
          <a:bodyPr/>
          <a:lstStyle/>
          <a:p>
            <a:endParaRPr lang="en-US"/>
          </a:p>
        </p:txBody>
      </p:sp>
      <p:sp>
        <p:nvSpPr>
          <p:cNvPr id="165" name="Text 10">
            <a:extLst>
              <a:ext uri="{FF2B5EF4-FFF2-40B4-BE49-F238E27FC236}">
                <a16:creationId xmlns:a16="http://schemas.microsoft.com/office/drawing/2014/main" id="{32B7203D-5CE7-4EE2-CA55-609173DCDEF9}"/>
              </a:ext>
            </a:extLst>
          </p:cNvPr>
          <p:cNvSpPr/>
          <p:nvPr/>
        </p:nvSpPr>
        <p:spPr>
          <a:xfrm>
            <a:off x="386565" y="2172419"/>
            <a:ext cx="2496312" cy="2560320"/>
          </a:xfrm>
          <a:prstGeom prst="rect">
            <a:avLst/>
          </a:prstGeom>
          <a:noFill/>
          <a:ln/>
        </p:spPr>
        <p:txBody>
          <a:bodyPr wrap="square" lIns="0" tIns="0" rIns="0" bIns="0" rtlCol="0" anchor="t"/>
          <a:lstStyle/>
          <a:p>
            <a:pPr marL="0" indent="0">
              <a:buNone/>
            </a:pPr>
            <a:r>
              <a:rPr lang="en-US" sz="1100" b="1">
                <a:solidFill>
                  <a:srgbClr val="990011"/>
                </a:solidFill>
                <a:latin typeface="Calibri" pitchFamily="34" charset="0"/>
                <a:ea typeface="Calibri" pitchFamily="34" charset="-122"/>
                <a:cs typeface="Calibri" pitchFamily="34" charset="-120"/>
              </a:rPr>
              <a:t>Symptoms:</a:t>
            </a:r>
            <a:endParaRPr lang="en-US" sz="1100"/>
          </a:p>
          <a:p>
            <a:r>
              <a:rPr lang="en-US" sz="1100">
                <a:solidFill>
                  <a:srgbClr val="444444"/>
                </a:solidFill>
                <a:latin typeface="Calibri"/>
                <a:ea typeface="Calibri"/>
                <a:cs typeface="Calibri"/>
              </a:rPr>
              <a:t>Numbness, tingling, and arthritis pain, multiple times per day, in-office and at home.</a:t>
            </a:r>
            <a:endParaRPr lang="en-US" sz="1100">
              <a:latin typeface="Calibri"/>
              <a:ea typeface="Calibri"/>
              <a:cs typeface="Calibri"/>
            </a:endParaRPr>
          </a:p>
          <a:p>
            <a:pPr marL="0" indent="0">
              <a:buNone/>
            </a:pPr>
            <a:endParaRPr lang="en-US" sz="1100"/>
          </a:p>
          <a:p>
            <a:pPr marL="0" indent="0">
              <a:buNone/>
            </a:pPr>
            <a:r>
              <a:rPr lang="en-US" sz="1100" b="1">
                <a:solidFill>
                  <a:srgbClr val="E8611A"/>
                </a:solidFill>
                <a:latin typeface="Calibri" pitchFamily="34" charset="0"/>
                <a:ea typeface="Calibri" pitchFamily="34" charset="-122"/>
                <a:cs typeface="Calibri" pitchFamily="34" charset="-120"/>
              </a:rPr>
              <a:t>Trials:</a:t>
            </a:r>
            <a:endParaRPr lang="en-US" sz="1100"/>
          </a:p>
          <a:p>
            <a:pPr marL="0" indent="0">
              <a:buNone/>
            </a:pPr>
            <a:r>
              <a:rPr lang="en-US" sz="1100">
                <a:solidFill>
                  <a:srgbClr val="444444"/>
                </a:solidFill>
                <a:latin typeface="Calibri" pitchFamily="34" charset="0"/>
                <a:ea typeface="Calibri" pitchFamily="34" charset="-122"/>
                <a:cs typeface="Calibri" pitchFamily="34" charset="-120"/>
              </a:rPr>
              <a:t>Gloves made typing harder. Fingerless gloves left exposed fingers still cold.</a:t>
            </a:r>
            <a:endParaRPr lang="en-US" sz="1100"/>
          </a:p>
          <a:p>
            <a:pPr marL="0" indent="0">
              <a:buNone/>
            </a:pPr>
            <a:endParaRPr lang="en-US" sz="1100"/>
          </a:p>
          <a:p>
            <a:pPr marL="0" indent="0">
              <a:buNone/>
            </a:pPr>
            <a:r>
              <a:rPr lang="en-US" sz="1100" b="1">
                <a:solidFill>
                  <a:srgbClr val="00B09B"/>
                </a:solidFill>
                <a:latin typeface="Calibri" pitchFamily="34" charset="0"/>
                <a:ea typeface="Calibri" pitchFamily="34" charset="-122"/>
                <a:cs typeface="Calibri" pitchFamily="34" charset="-120"/>
              </a:rPr>
              <a:t>Key Ask:</a:t>
            </a:r>
            <a:endParaRPr lang="en-US" sz="1100"/>
          </a:p>
          <a:p>
            <a:r>
              <a:rPr lang="en-US" sz="1100">
                <a:solidFill>
                  <a:srgbClr val="444444"/>
                </a:solidFill>
                <a:latin typeface="Calibri"/>
                <a:ea typeface="Calibri"/>
                <a:cs typeface="Calibri"/>
              </a:rPr>
              <a:t>Temperature control, hands-free use, and constant heat, even when she controlled room temp herself.</a:t>
            </a:r>
            <a:endParaRPr lang="en-US" sz="1100">
              <a:latin typeface="Calibri"/>
              <a:ea typeface="Calibri"/>
              <a:cs typeface="Calibri"/>
            </a:endParaRPr>
          </a:p>
        </p:txBody>
      </p:sp>
      <p:sp>
        <p:nvSpPr>
          <p:cNvPr id="167" name="Shape 11">
            <a:extLst>
              <a:ext uri="{FF2B5EF4-FFF2-40B4-BE49-F238E27FC236}">
                <a16:creationId xmlns:a16="http://schemas.microsoft.com/office/drawing/2014/main" id="{8C6C3943-7527-12D7-2A4E-845F526A165C}"/>
              </a:ext>
            </a:extLst>
          </p:cNvPr>
          <p:cNvSpPr/>
          <p:nvPr/>
        </p:nvSpPr>
        <p:spPr>
          <a:xfrm>
            <a:off x="386565" y="4522427"/>
            <a:ext cx="2496312" cy="246888"/>
          </a:xfrm>
          <a:prstGeom prst="rect">
            <a:avLst/>
          </a:prstGeom>
          <a:solidFill>
            <a:srgbClr val="FFF0F0"/>
          </a:solidFill>
          <a:ln w="12700">
            <a:solidFill>
              <a:srgbClr val="FFCCCC"/>
            </a:solidFill>
            <a:prstDash val="solid"/>
          </a:ln>
        </p:spPr>
        <p:txBody>
          <a:bodyPr/>
          <a:lstStyle/>
          <a:p>
            <a:endParaRPr lang="en-US"/>
          </a:p>
        </p:txBody>
      </p:sp>
      <p:sp>
        <p:nvSpPr>
          <p:cNvPr id="169" name="Text 12">
            <a:extLst>
              <a:ext uri="{FF2B5EF4-FFF2-40B4-BE49-F238E27FC236}">
                <a16:creationId xmlns:a16="http://schemas.microsoft.com/office/drawing/2014/main" id="{6308D32E-63B4-B36B-6F81-0991E3982B18}"/>
              </a:ext>
            </a:extLst>
          </p:cNvPr>
          <p:cNvSpPr/>
          <p:nvPr/>
        </p:nvSpPr>
        <p:spPr>
          <a:xfrm>
            <a:off x="388063" y="4523925"/>
            <a:ext cx="2496312" cy="246888"/>
          </a:xfrm>
          <a:prstGeom prst="rect">
            <a:avLst/>
          </a:prstGeom>
          <a:noFill/>
          <a:ln/>
        </p:spPr>
        <p:txBody>
          <a:bodyPr wrap="square" lIns="0" tIns="0" rIns="0" bIns="0" rtlCol="0" anchor="ctr"/>
          <a:lstStyle/>
          <a:p>
            <a:pPr marL="0" indent="0" algn="ctr">
              <a:buNone/>
            </a:pPr>
            <a:r>
              <a:rPr lang="en-US" sz="900" i="1">
                <a:solidFill>
                  <a:srgbClr val="990011"/>
                </a:solidFill>
                <a:latin typeface="Calibri" pitchFamily="34" charset="0"/>
                <a:ea typeface="Calibri" pitchFamily="34" charset="-122"/>
                <a:cs typeface="Calibri" pitchFamily="34" charset="-120"/>
              </a:rPr>
              <a:t>Cold hands forced her to stop typing to rewarm.</a:t>
            </a:r>
            <a:endParaRPr lang="en-US" sz="900"/>
          </a:p>
        </p:txBody>
      </p:sp>
      <p:sp>
        <p:nvSpPr>
          <p:cNvPr id="171" name="Shape 13">
            <a:extLst>
              <a:ext uri="{FF2B5EF4-FFF2-40B4-BE49-F238E27FC236}">
                <a16:creationId xmlns:a16="http://schemas.microsoft.com/office/drawing/2014/main" id="{456B46E8-5C90-D98D-51EB-1FBBAB135370}"/>
              </a:ext>
            </a:extLst>
          </p:cNvPr>
          <p:cNvSpPr/>
          <p:nvPr/>
        </p:nvSpPr>
        <p:spPr>
          <a:xfrm>
            <a:off x="3193773" y="1303739"/>
            <a:ext cx="2697480" cy="3566160"/>
          </a:xfrm>
          <a:prstGeom prst="rect">
            <a:avLst/>
          </a:prstGeom>
          <a:solidFill>
            <a:srgbClr val="FFFFFF"/>
          </a:solidFill>
          <a:ln w="12700">
            <a:solidFill>
              <a:srgbClr val="DDDDDD"/>
            </a:solidFill>
            <a:prstDash val="solid"/>
          </a:ln>
          <a:effectLst>
            <a:outerShdw blurRad="63500" dist="25400" dir="8100000" algn="bl" rotWithShape="0">
              <a:srgbClr val="000000">
                <a:alpha val="8000"/>
              </a:srgbClr>
            </a:outerShdw>
          </a:effectLst>
        </p:spPr>
        <p:txBody>
          <a:bodyPr/>
          <a:lstStyle/>
          <a:p>
            <a:endParaRPr lang="en-US"/>
          </a:p>
        </p:txBody>
      </p:sp>
      <p:sp>
        <p:nvSpPr>
          <p:cNvPr id="173" name="Shape 14">
            <a:extLst>
              <a:ext uri="{FF2B5EF4-FFF2-40B4-BE49-F238E27FC236}">
                <a16:creationId xmlns:a16="http://schemas.microsoft.com/office/drawing/2014/main" id="{E9F3FDE9-3236-154A-DE66-8BB31F5ED343}"/>
              </a:ext>
            </a:extLst>
          </p:cNvPr>
          <p:cNvSpPr/>
          <p:nvPr/>
        </p:nvSpPr>
        <p:spPr>
          <a:xfrm>
            <a:off x="3193773" y="1303739"/>
            <a:ext cx="64008" cy="3566160"/>
          </a:xfrm>
          <a:prstGeom prst="rect">
            <a:avLst/>
          </a:prstGeom>
          <a:solidFill>
            <a:srgbClr val="E8611A"/>
          </a:solidFill>
          <a:ln w="12700">
            <a:solidFill>
              <a:srgbClr val="E8611A"/>
            </a:solidFill>
            <a:prstDash val="solid"/>
          </a:ln>
        </p:spPr>
        <p:txBody>
          <a:bodyPr/>
          <a:lstStyle/>
          <a:p>
            <a:endParaRPr lang="en-US"/>
          </a:p>
        </p:txBody>
      </p:sp>
      <p:sp>
        <p:nvSpPr>
          <p:cNvPr id="175" name="Shape 15">
            <a:extLst>
              <a:ext uri="{FF2B5EF4-FFF2-40B4-BE49-F238E27FC236}">
                <a16:creationId xmlns:a16="http://schemas.microsoft.com/office/drawing/2014/main" id="{C4BA8671-92B5-C63B-98E7-24EBAF2AB7CC}"/>
              </a:ext>
            </a:extLst>
          </p:cNvPr>
          <p:cNvSpPr/>
          <p:nvPr/>
        </p:nvSpPr>
        <p:spPr>
          <a:xfrm>
            <a:off x="3330933" y="1468331"/>
            <a:ext cx="475488" cy="475488"/>
          </a:xfrm>
          <a:prstGeom prst="ellipse">
            <a:avLst/>
          </a:prstGeom>
          <a:solidFill>
            <a:srgbClr val="E8611A"/>
          </a:solidFill>
          <a:ln w="12700">
            <a:solidFill>
              <a:srgbClr val="E8611A"/>
            </a:solidFill>
            <a:prstDash val="solid"/>
          </a:ln>
        </p:spPr>
        <p:txBody>
          <a:bodyPr/>
          <a:lstStyle/>
          <a:p>
            <a:endParaRPr lang="en-US"/>
          </a:p>
        </p:txBody>
      </p:sp>
      <p:sp>
        <p:nvSpPr>
          <p:cNvPr id="177" name="Text 16">
            <a:extLst>
              <a:ext uri="{FF2B5EF4-FFF2-40B4-BE49-F238E27FC236}">
                <a16:creationId xmlns:a16="http://schemas.microsoft.com/office/drawing/2014/main" id="{0FD660CC-A0F4-A7D7-D762-AB53BE7DFA8F}"/>
              </a:ext>
            </a:extLst>
          </p:cNvPr>
          <p:cNvSpPr/>
          <p:nvPr/>
        </p:nvSpPr>
        <p:spPr>
          <a:xfrm>
            <a:off x="3332431" y="1469829"/>
            <a:ext cx="475488" cy="475488"/>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85F</a:t>
            </a:r>
            <a:endParaRPr lang="en-US" sz="1000"/>
          </a:p>
        </p:txBody>
      </p:sp>
      <p:sp>
        <p:nvSpPr>
          <p:cNvPr id="179" name="Text 17">
            <a:extLst>
              <a:ext uri="{FF2B5EF4-FFF2-40B4-BE49-F238E27FC236}">
                <a16:creationId xmlns:a16="http://schemas.microsoft.com/office/drawing/2014/main" id="{8A9E409B-8183-1291-B197-728E107281E1}"/>
              </a:ext>
            </a:extLst>
          </p:cNvPr>
          <p:cNvSpPr/>
          <p:nvPr/>
        </p:nvSpPr>
        <p:spPr>
          <a:xfrm>
            <a:off x="3852141" y="1486619"/>
            <a:ext cx="1920240" cy="256032"/>
          </a:xfrm>
          <a:prstGeom prst="rect">
            <a:avLst/>
          </a:prstGeom>
          <a:noFill/>
          <a:ln/>
        </p:spPr>
        <p:txBody>
          <a:bodyPr wrap="square" lIns="0" tIns="0" rIns="0" bIns="0" rtlCol="0" anchor="ctr"/>
          <a:lstStyle/>
          <a:p>
            <a:pPr marL="0" indent="0">
              <a:buNone/>
            </a:pPr>
            <a:r>
              <a:rPr lang="en-US" sz="1300" b="1">
                <a:solidFill>
                  <a:srgbClr val="222222"/>
                </a:solidFill>
                <a:latin typeface="Calibri" pitchFamily="34" charset="0"/>
                <a:ea typeface="Calibri" pitchFamily="34" charset="-122"/>
                <a:cs typeface="Calibri" pitchFamily="34" charset="-120"/>
              </a:rPr>
              <a:t>Retired / Home Computer</a:t>
            </a:r>
            <a:endParaRPr lang="en-US" sz="1300"/>
          </a:p>
        </p:txBody>
      </p:sp>
      <p:sp>
        <p:nvSpPr>
          <p:cNvPr id="181" name="Text 18">
            <a:extLst>
              <a:ext uri="{FF2B5EF4-FFF2-40B4-BE49-F238E27FC236}">
                <a16:creationId xmlns:a16="http://schemas.microsoft.com/office/drawing/2014/main" id="{BE4C88A2-27C0-80C6-A3CC-075841D8B5A2}"/>
              </a:ext>
            </a:extLst>
          </p:cNvPr>
          <p:cNvSpPr/>
          <p:nvPr/>
        </p:nvSpPr>
        <p:spPr>
          <a:xfrm>
            <a:off x="3852141" y="1733507"/>
            <a:ext cx="1920240" cy="201168"/>
          </a:xfrm>
          <a:prstGeom prst="rect">
            <a:avLst/>
          </a:prstGeom>
          <a:noFill/>
          <a:ln/>
        </p:spPr>
        <p:txBody>
          <a:bodyPr wrap="square" lIns="0" tIns="0" rIns="0" bIns="0" rtlCol="0" anchor="ctr"/>
          <a:lstStyle/>
          <a:p>
            <a:pPr marL="0" indent="0">
              <a:buNone/>
            </a:pPr>
            <a:r>
              <a:rPr lang="en-US" sz="1000" b="1">
                <a:solidFill>
                  <a:srgbClr val="E8611A"/>
                </a:solidFill>
                <a:latin typeface="Calibri" pitchFamily="34" charset="0"/>
                <a:ea typeface="Calibri" pitchFamily="34" charset="-122"/>
                <a:cs typeface="Calibri" pitchFamily="34" charset="-120"/>
              </a:rPr>
              <a:t>Type 1 Diabetes &amp; Arthritis</a:t>
            </a:r>
            <a:endParaRPr lang="en-US" sz="1000"/>
          </a:p>
        </p:txBody>
      </p:sp>
      <p:sp>
        <p:nvSpPr>
          <p:cNvPr id="183" name="Shape 19">
            <a:extLst>
              <a:ext uri="{FF2B5EF4-FFF2-40B4-BE49-F238E27FC236}">
                <a16:creationId xmlns:a16="http://schemas.microsoft.com/office/drawing/2014/main" id="{4BF276F7-F5AB-B55D-D9C0-E5EF0F98EC45}"/>
              </a:ext>
            </a:extLst>
          </p:cNvPr>
          <p:cNvSpPr/>
          <p:nvPr/>
        </p:nvSpPr>
        <p:spPr>
          <a:xfrm>
            <a:off x="3330933" y="2080979"/>
            <a:ext cx="2496312" cy="0"/>
          </a:xfrm>
          <a:prstGeom prst="line">
            <a:avLst/>
          </a:prstGeom>
          <a:noFill/>
          <a:ln w="12700">
            <a:solidFill>
              <a:srgbClr val="EEEEEE"/>
            </a:solidFill>
            <a:prstDash val="solid"/>
          </a:ln>
        </p:spPr>
        <p:txBody>
          <a:bodyPr/>
          <a:lstStyle/>
          <a:p>
            <a:endParaRPr lang="en-US"/>
          </a:p>
        </p:txBody>
      </p:sp>
      <p:sp>
        <p:nvSpPr>
          <p:cNvPr id="185" name="Text 20">
            <a:extLst>
              <a:ext uri="{FF2B5EF4-FFF2-40B4-BE49-F238E27FC236}">
                <a16:creationId xmlns:a16="http://schemas.microsoft.com/office/drawing/2014/main" id="{008F7732-2D28-EC44-BC35-EB504845A08D}"/>
              </a:ext>
            </a:extLst>
          </p:cNvPr>
          <p:cNvSpPr/>
          <p:nvPr/>
        </p:nvSpPr>
        <p:spPr>
          <a:xfrm>
            <a:off x="3330933" y="2172419"/>
            <a:ext cx="2496312" cy="2560320"/>
          </a:xfrm>
          <a:prstGeom prst="rect">
            <a:avLst/>
          </a:prstGeom>
          <a:noFill/>
          <a:ln/>
        </p:spPr>
        <p:txBody>
          <a:bodyPr wrap="square" lIns="0" tIns="0" rIns="0" bIns="0" rtlCol="0" anchor="t"/>
          <a:lstStyle/>
          <a:p>
            <a:pPr marL="0" indent="0">
              <a:buNone/>
            </a:pPr>
            <a:r>
              <a:rPr lang="en-US" sz="1100" b="1">
                <a:solidFill>
                  <a:srgbClr val="E8611A"/>
                </a:solidFill>
                <a:latin typeface="Calibri" pitchFamily="34" charset="0"/>
                <a:ea typeface="Calibri" pitchFamily="34" charset="-122"/>
                <a:cs typeface="Calibri" pitchFamily="34" charset="-120"/>
              </a:rPr>
              <a:t>Situation:</a:t>
            </a:r>
            <a:endParaRPr lang="en-US" sz="1100"/>
          </a:p>
          <a:p>
            <a:r>
              <a:rPr lang="en-US" sz="1100">
                <a:solidFill>
                  <a:srgbClr val="444444"/>
                </a:solidFill>
                <a:latin typeface="Calibri"/>
                <a:ea typeface="Calibri"/>
                <a:cs typeface="Calibri"/>
              </a:rPr>
              <a:t>Computer in basement in State College, PA. Uses it for Zoom, email, and news.</a:t>
            </a:r>
            <a:endParaRPr lang="en-US" sz="1100">
              <a:latin typeface="Calibri"/>
              <a:ea typeface="Calibri"/>
              <a:cs typeface="Calibri"/>
            </a:endParaRPr>
          </a:p>
          <a:p>
            <a:pPr marL="0" indent="0">
              <a:buNone/>
            </a:pPr>
            <a:endParaRPr lang="en-US" sz="1100"/>
          </a:p>
          <a:p>
            <a:pPr marL="0" indent="0">
              <a:buNone/>
            </a:pPr>
            <a:r>
              <a:rPr lang="en-US" sz="1100" b="1">
                <a:solidFill>
                  <a:srgbClr val="E8611A"/>
                </a:solidFill>
                <a:latin typeface="Calibri" pitchFamily="34" charset="0"/>
                <a:ea typeface="Calibri" pitchFamily="34" charset="-122"/>
                <a:cs typeface="Calibri" pitchFamily="34" charset="-120"/>
              </a:rPr>
              <a:t>Trials:</a:t>
            </a:r>
            <a:endParaRPr lang="en-US" sz="1100"/>
          </a:p>
          <a:p>
            <a:pPr marL="0" indent="0">
              <a:buNone/>
            </a:pPr>
            <a:r>
              <a:rPr lang="en-US" sz="1100">
                <a:solidFill>
                  <a:srgbClr val="444444"/>
                </a:solidFill>
                <a:latin typeface="Calibri"/>
                <a:ea typeface="Calibri"/>
                <a:cs typeface="Calibri"/>
              </a:rPr>
              <a:t>Space heaters were noisy and didn't target hands, she could wear warm clothes, but hands stayed cold.</a:t>
            </a:r>
            <a:endParaRPr lang="en-US" sz="1100">
              <a:latin typeface="Calibri"/>
              <a:ea typeface="Calibri"/>
              <a:cs typeface="Calibri"/>
            </a:endParaRPr>
          </a:p>
          <a:p>
            <a:pPr marL="0" indent="0">
              <a:buNone/>
            </a:pPr>
            <a:endParaRPr lang="en-US" sz="1100"/>
          </a:p>
          <a:p>
            <a:pPr marL="0" indent="0">
              <a:buNone/>
            </a:pPr>
            <a:r>
              <a:rPr lang="en-US" sz="1100" b="1">
                <a:solidFill>
                  <a:srgbClr val="00B09B"/>
                </a:solidFill>
                <a:latin typeface="Calibri" pitchFamily="34" charset="0"/>
                <a:ea typeface="Calibri" pitchFamily="34" charset="-122"/>
                <a:cs typeface="Calibri" pitchFamily="34" charset="-120"/>
              </a:rPr>
              <a:t>Key Finding:</a:t>
            </a:r>
            <a:endParaRPr lang="en-US" sz="1100"/>
          </a:p>
          <a:p>
            <a:pPr marL="0" indent="0">
              <a:buNone/>
            </a:pPr>
            <a:r>
              <a:rPr lang="en-US" sz="1100">
                <a:solidFill>
                  <a:srgbClr val="444444"/>
                </a:solidFill>
                <a:latin typeface="Calibri"/>
                <a:ea typeface="Calibri"/>
                <a:cs typeface="Calibri"/>
              </a:rPr>
              <a:t>No Raynaud's diagnosis, yet still clearly needs our product. Validates the broader consumer market.</a:t>
            </a:r>
            <a:endParaRPr lang="en-US" sz="1100">
              <a:latin typeface="Calibri"/>
              <a:ea typeface="Calibri"/>
              <a:cs typeface="Calibri"/>
            </a:endParaRPr>
          </a:p>
        </p:txBody>
      </p:sp>
      <p:sp>
        <p:nvSpPr>
          <p:cNvPr id="187" name="Shape 21">
            <a:extLst>
              <a:ext uri="{FF2B5EF4-FFF2-40B4-BE49-F238E27FC236}">
                <a16:creationId xmlns:a16="http://schemas.microsoft.com/office/drawing/2014/main" id="{710C7612-8A55-4E84-5D58-E99064D4D007}"/>
              </a:ext>
            </a:extLst>
          </p:cNvPr>
          <p:cNvSpPr/>
          <p:nvPr/>
        </p:nvSpPr>
        <p:spPr>
          <a:xfrm>
            <a:off x="3330933" y="4522427"/>
            <a:ext cx="2496312" cy="246888"/>
          </a:xfrm>
          <a:prstGeom prst="rect">
            <a:avLst/>
          </a:prstGeom>
          <a:solidFill>
            <a:srgbClr val="FFF5EC"/>
          </a:solidFill>
          <a:ln w="12700">
            <a:solidFill>
              <a:srgbClr val="FFD9B0"/>
            </a:solidFill>
            <a:prstDash val="solid"/>
          </a:ln>
        </p:spPr>
        <p:txBody>
          <a:bodyPr/>
          <a:lstStyle/>
          <a:p>
            <a:endParaRPr lang="en-US"/>
          </a:p>
        </p:txBody>
      </p:sp>
      <p:sp>
        <p:nvSpPr>
          <p:cNvPr id="189" name="Text 22">
            <a:extLst>
              <a:ext uri="{FF2B5EF4-FFF2-40B4-BE49-F238E27FC236}">
                <a16:creationId xmlns:a16="http://schemas.microsoft.com/office/drawing/2014/main" id="{B36A4A6D-58C4-58FB-BD86-A6BF5FDFB162}"/>
              </a:ext>
            </a:extLst>
          </p:cNvPr>
          <p:cNvSpPr/>
          <p:nvPr/>
        </p:nvSpPr>
        <p:spPr>
          <a:xfrm>
            <a:off x="3335642" y="4520715"/>
            <a:ext cx="2496312" cy="246888"/>
          </a:xfrm>
          <a:prstGeom prst="rect">
            <a:avLst/>
          </a:prstGeom>
          <a:noFill/>
          <a:ln/>
        </p:spPr>
        <p:txBody>
          <a:bodyPr wrap="square" lIns="0" tIns="0" rIns="0" bIns="0" rtlCol="0" anchor="ctr"/>
          <a:lstStyle/>
          <a:p>
            <a:pPr marL="0" indent="0" algn="ctr">
              <a:buNone/>
            </a:pPr>
            <a:r>
              <a:rPr lang="en-US" sz="900" i="1">
                <a:solidFill>
                  <a:srgbClr val="E8611A"/>
                </a:solidFill>
                <a:latin typeface="Calibri" pitchFamily="34" charset="0"/>
                <a:ea typeface="Calibri" pitchFamily="34" charset="-122"/>
                <a:cs typeface="Calibri" pitchFamily="34" charset="-120"/>
              </a:rPr>
              <a:t>Took regular breaks just to rewarm her hands.</a:t>
            </a:r>
            <a:endParaRPr lang="en-US" sz="900"/>
          </a:p>
        </p:txBody>
      </p:sp>
      <p:sp>
        <p:nvSpPr>
          <p:cNvPr id="191" name="Shape 23">
            <a:extLst>
              <a:ext uri="{FF2B5EF4-FFF2-40B4-BE49-F238E27FC236}">
                <a16:creationId xmlns:a16="http://schemas.microsoft.com/office/drawing/2014/main" id="{121F7571-477C-FEF5-44B1-3D4C902450C3}"/>
              </a:ext>
            </a:extLst>
          </p:cNvPr>
          <p:cNvSpPr/>
          <p:nvPr/>
        </p:nvSpPr>
        <p:spPr>
          <a:xfrm>
            <a:off x="6138141" y="1303739"/>
            <a:ext cx="2697480" cy="3566160"/>
          </a:xfrm>
          <a:prstGeom prst="rect">
            <a:avLst/>
          </a:prstGeom>
          <a:solidFill>
            <a:srgbClr val="FFFFFF"/>
          </a:solidFill>
          <a:ln w="12700">
            <a:solidFill>
              <a:srgbClr val="DDDDDD"/>
            </a:solidFill>
            <a:prstDash val="solid"/>
          </a:ln>
          <a:effectLst>
            <a:outerShdw blurRad="63500" dist="25400" dir="8100000" algn="bl" rotWithShape="0">
              <a:srgbClr val="000000">
                <a:alpha val="8000"/>
              </a:srgbClr>
            </a:outerShdw>
          </a:effectLst>
        </p:spPr>
        <p:txBody>
          <a:bodyPr/>
          <a:lstStyle/>
          <a:p>
            <a:endParaRPr lang="en-US"/>
          </a:p>
        </p:txBody>
      </p:sp>
      <p:sp>
        <p:nvSpPr>
          <p:cNvPr id="193" name="Shape 24">
            <a:extLst>
              <a:ext uri="{FF2B5EF4-FFF2-40B4-BE49-F238E27FC236}">
                <a16:creationId xmlns:a16="http://schemas.microsoft.com/office/drawing/2014/main" id="{F5B99EEA-DC35-0C53-7239-CA739F2B8482}"/>
              </a:ext>
            </a:extLst>
          </p:cNvPr>
          <p:cNvSpPr/>
          <p:nvPr/>
        </p:nvSpPr>
        <p:spPr>
          <a:xfrm>
            <a:off x="6138141" y="1303739"/>
            <a:ext cx="64008" cy="3566160"/>
          </a:xfrm>
          <a:prstGeom prst="rect">
            <a:avLst/>
          </a:prstGeom>
          <a:solidFill>
            <a:srgbClr val="00B09B"/>
          </a:solidFill>
          <a:ln w="12700">
            <a:solidFill>
              <a:srgbClr val="00B09B"/>
            </a:solidFill>
            <a:prstDash val="solid"/>
          </a:ln>
        </p:spPr>
        <p:txBody>
          <a:bodyPr/>
          <a:lstStyle/>
          <a:p>
            <a:endParaRPr lang="en-US"/>
          </a:p>
        </p:txBody>
      </p:sp>
      <p:sp>
        <p:nvSpPr>
          <p:cNvPr id="195" name="Shape 25">
            <a:extLst>
              <a:ext uri="{FF2B5EF4-FFF2-40B4-BE49-F238E27FC236}">
                <a16:creationId xmlns:a16="http://schemas.microsoft.com/office/drawing/2014/main" id="{3B698BA6-C434-FC66-2C09-6DBE9CE00716}"/>
              </a:ext>
            </a:extLst>
          </p:cNvPr>
          <p:cNvSpPr/>
          <p:nvPr/>
        </p:nvSpPr>
        <p:spPr>
          <a:xfrm>
            <a:off x="6275301" y="1468331"/>
            <a:ext cx="475488" cy="475488"/>
          </a:xfrm>
          <a:prstGeom prst="ellipse">
            <a:avLst/>
          </a:prstGeom>
          <a:solidFill>
            <a:srgbClr val="00B09B"/>
          </a:solidFill>
          <a:ln w="12700">
            <a:solidFill>
              <a:srgbClr val="00B09B"/>
            </a:solidFill>
            <a:prstDash val="solid"/>
          </a:ln>
        </p:spPr>
        <p:txBody>
          <a:bodyPr/>
          <a:lstStyle/>
          <a:p>
            <a:endParaRPr lang="en-US"/>
          </a:p>
        </p:txBody>
      </p:sp>
      <p:sp>
        <p:nvSpPr>
          <p:cNvPr id="197" name="Text 26">
            <a:extLst>
              <a:ext uri="{FF2B5EF4-FFF2-40B4-BE49-F238E27FC236}">
                <a16:creationId xmlns:a16="http://schemas.microsoft.com/office/drawing/2014/main" id="{78A89775-C87D-C2CB-EA8C-EE4212383E80}"/>
              </a:ext>
            </a:extLst>
          </p:cNvPr>
          <p:cNvSpPr/>
          <p:nvPr/>
        </p:nvSpPr>
        <p:spPr>
          <a:xfrm>
            <a:off x="6276799" y="1469829"/>
            <a:ext cx="475488" cy="475488"/>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20M</a:t>
            </a:r>
            <a:endParaRPr lang="en-US" sz="1000"/>
          </a:p>
        </p:txBody>
      </p:sp>
      <p:sp>
        <p:nvSpPr>
          <p:cNvPr id="199" name="Text 27">
            <a:extLst>
              <a:ext uri="{FF2B5EF4-FFF2-40B4-BE49-F238E27FC236}">
                <a16:creationId xmlns:a16="http://schemas.microsoft.com/office/drawing/2014/main" id="{499F5664-BA19-A3EB-88F4-0C2B1A7160AE}"/>
              </a:ext>
            </a:extLst>
          </p:cNvPr>
          <p:cNvSpPr/>
          <p:nvPr/>
        </p:nvSpPr>
        <p:spPr>
          <a:xfrm>
            <a:off x="6796509" y="1486619"/>
            <a:ext cx="1920240" cy="256032"/>
          </a:xfrm>
          <a:prstGeom prst="rect">
            <a:avLst/>
          </a:prstGeom>
          <a:noFill/>
          <a:ln/>
        </p:spPr>
        <p:txBody>
          <a:bodyPr wrap="square" lIns="0" tIns="0" rIns="0" bIns="0" rtlCol="0" anchor="ctr"/>
          <a:lstStyle/>
          <a:p>
            <a:pPr marL="0" indent="0">
              <a:buNone/>
            </a:pPr>
            <a:r>
              <a:rPr lang="en-US" sz="1300" b="1">
                <a:solidFill>
                  <a:srgbClr val="222222"/>
                </a:solidFill>
                <a:latin typeface="Calibri" pitchFamily="34" charset="0"/>
                <a:ea typeface="Calibri" pitchFamily="34" charset="-122"/>
                <a:cs typeface="Calibri" pitchFamily="34" charset="-120"/>
              </a:rPr>
              <a:t>College Student</a:t>
            </a:r>
            <a:endParaRPr lang="en-US" sz="1300"/>
          </a:p>
        </p:txBody>
      </p:sp>
      <p:sp>
        <p:nvSpPr>
          <p:cNvPr id="201" name="Text 28">
            <a:extLst>
              <a:ext uri="{FF2B5EF4-FFF2-40B4-BE49-F238E27FC236}">
                <a16:creationId xmlns:a16="http://schemas.microsoft.com/office/drawing/2014/main" id="{5C4EDBC4-A10A-26EF-A566-4D891F2F90F5}"/>
              </a:ext>
            </a:extLst>
          </p:cNvPr>
          <p:cNvSpPr/>
          <p:nvPr/>
        </p:nvSpPr>
        <p:spPr>
          <a:xfrm>
            <a:off x="6796509" y="1733507"/>
            <a:ext cx="1920240" cy="201168"/>
          </a:xfrm>
          <a:prstGeom prst="rect">
            <a:avLst/>
          </a:prstGeom>
          <a:noFill/>
          <a:ln/>
        </p:spPr>
        <p:txBody>
          <a:bodyPr wrap="square" lIns="0" tIns="0" rIns="0" bIns="0" rtlCol="0" anchor="ctr"/>
          <a:lstStyle/>
          <a:p>
            <a:pPr marL="0" indent="0">
              <a:buNone/>
            </a:pPr>
            <a:r>
              <a:rPr lang="en-US" sz="1000" b="1">
                <a:solidFill>
                  <a:srgbClr val="00B09B"/>
                </a:solidFill>
                <a:latin typeface="Calibri" pitchFamily="34" charset="0"/>
                <a:ea typeface="Calibri" pitchFamily="34" charset="-122"/>
                <a:cs typeface="Calibri" pitchFamily="34" charset="-120"/>
              </a:rPr>
              <a:t>Cold Dorm / No Medical Diagnosis</a:t>
            </a:r>
            <a:endParaRPr lang="en-US" sz="1000"/>
          </a:p>
        </p:txBody>
      </p:sp>
      <p:sp>
        <p:nvSpPr>
          <p:cNvPr id="203" name="Shape 29">
            <a:extLst>
              <a:ext uri="{FF2B5EF4-FFF2-40B4-BE49-F238E27FC236}">
                <a16:creationId xmlns:a16="http://schemas.microsoft.com/office/drawing/2014/main" id="{4130F62E-C1E9-7879-28A1-8E7ECE644244}"/>
              </a:ext>
            </a:extLst>
          </p:cNvPr>
          <p:cNvSpPr/>
          <p:nvPr/>
        </p:nvSpPr>
        <p:spPr>
          <a:xfrm>
            <a:off x="6275301" y="2080979"/>
            <a:ext cx="2496312" cy="0"/>
          </a:xfrm>
          <a:prstGeom prst="line">
            <a:avLst/>
          </a:prstGeom>
          <a:noFill/>
          <a:ln w="12700">
            <a:solidFill>
              <a:srgbClr val="EEEEEE"/>
            </a:solidFill>
            <a:prstDash val="solid"/>
          </a:ln>
        </p:spPr>
        <p:txBody>
          <a:bodyPr/>
          <a:lstStyle/>
          <a:p>
            <a:endParaRPr lang="en-US"/>
          </a:p>
        </p:txBody>
      </p:sp>
      <p:sp>
        <p:nvSpPr>
          <p:cNvPr id="205" name="Text 30">
            <a:extLst>
              <a:ext uri="{FF2B5EF4-FFF2-40B4-BE49-F238E27FC236}">
                <a16:creationId xmlns:a16="http://schemas.microsoft.com/office/drawing/2014/main" id="{E52FC3AA-A327-9C4F-E6F4-DA2636D17B09}"/>
              </a:ext>
            </a:extLst>
          </p:cNvPr>
          <p:cNvSpPr/>
          <p:nvPr/>
        </p:nvSpPr>
        <p:spPr>
          <a:xfrm>
            <a:off x="6275301" y="2172419"/>
            <a:ext cx="2496312" cy="2560320"/>
          </a:xfrm>
          <a:prstGeom prst="rect">
            <a:avLst/>
          </a:prstGeom>
          <a:noFill/>
          <a:ln/>
        </p:spPr>
        <p:txBody>
          <a:bodyPr wrap="square" lIns="0" tIns="0" rIns="0" bIns="0" rtlCol="0" anchor="t"/>
          <a:lstStyle/>
          <a:p>
            <a:pPr marL="0" indent="0">
              <a:buNone/>
            </a:pPr>
            <a:r>
              <a:rPr lang="en-US" sz="1100" b="1">
                <a:solidFill>
                  <a:srgbClr val="00B09B"/>
                </a:solidFill>
                <a:latin typeface="Calibri" pitchFamily="34" charset="0"/>
                <a:ea typeface="Calibri" pitchFamily="34" charset="-122"/>
                <a:cs typeface="Calibri" pitchFamily="34" charset="-120"/>
              </a:rPr>
              <a:t>Situation:</a:t>
            </a:r>
            <a:endParaRPr lang="en-US" sz="1100"/>
          </a:p>
          <a:p>
            <a:pPr marL="0" indent="0">
              <a:buNone/>
            </a:pPr>
            <a:r>
              <a:rPr lang="en-US" sz="1100">
                <a:solidFill>
                  <a:srgbClr val="444444"/>
                </a:solidFill>
                <a:latin typeface="Calibri" pitchFamily="34" charset="0"/>
                <a:ea typeface="Calibri" pitchFamily="34" charset="-122"/>
                <a:cs typeface="Calibri" pitchFamily="34" charset="-120"/>
              </a:rPr>
              <a:t>Cold basement dorm in McKee Hall, Penn State. Awkward desk height restricted arm circulation.</a:t>
            </a:r>
            <a:endParaRPr lang="en-US" sz="1100"/>
          </a:p>
          <a:p>
            <a:pPr marL="0" indent="0">
              <a:buNone/>
            </a:pPr>
            <a:endParaRPr lang="en-US" sz="1100"/>
          </a:p>
          <a:p>
            <a:pPr marL="0" indent="0">
              <a:buNone/>
            </a:pPr>
            <a:r>
              <a:rPr lang="en-US" sz="1100" b="1">
                <a:solidFill>
                  <a:srgbClr val="00B09B"/>
                </a:solidFill>
                <a:latin typeface="Calibri" pitchFamily="34" charset="0"/>
                <a:ea typeface="Calibri" pitchFamily="34" charset="-122"/>
                <a:cs typeface="Calibri" pitchFamily="34" charset="-120"/>
              </a:rPr>
              <a:t>Peer Behavior:</a:t>
            </a:r>
            <a:endParaRPr lang="en-US" sz="1100"/>
          </a:p>
          <a:p>
            <a:r>
              <a:rPr lang="en-US" sz="1100">
                <a:solidFill>
                  <a:srgbClr val="444444"/>
                </a:solidFill>
                <a:latin typeface="Calibri"/>
                <a:ea typeface="Calibri"/>
                <a:cs typeface="Calibri"/>
              </a:rPr>
              <a:t>Roommate used disposable hand warmers while typing, a workaround that signals unmet demand.</a:t>
            </a:r>
            <a:endParaRPr lang="en-US" sz="1100">
              <a:latin typeface="Calibri"/>
              <a:ea typeface="Calibri"/>
              <a:cs typeface="Calibri"/>
            </a:endParaRPr>
          </a:p>
          <a:p>
            <a:endParaRPr lang="en-US" sz="1100">
              <a:solidFill>
                <a:srgbClr val="444444"/>
              </a:solidFill>
              <a:latin typeface="Calibri"/>
              <a:ea typeface="Calibri"/>
              <a:cs typeface="Calibri"/>
            </a:endParaRPr>
          </a:p>
          <a:p>
            <a:pPr marL="0" indent="0">
              <a:buNone/>
            </a:pPr>
            <a:r>
              <a:rPr lang="en-US" sz="1100" b="1">
                <a:solidFill>
                  <a:srgbClr val="00B09B"/>
                </a:solidFill>
                <a:latin typeface="Calibri" pitchFamily="34" charset="0"/>
                <a:ea typeface="Calibri" pitchFamily="34" charset="-122"/>
                <a:cs typeface="Calibri" pitchFamily="34" charset="-120"/>
              </a:rPr>
              <a:t>Key Finding:</a:t>
            </a:r>
            <a:endParaRPr lang="en-US" sz="1100"/>
          </a:p>
          <a:p>
            <a:pPr marL="0" indent="0">
              <a:buNone/>
            </a:pPr>
            <a:r>
              <a:rPr lang="en-US" sz="1100">
                <a:solidFill>
                  <a:srgbClr val="444444"/>
                </a:solidFill>
                <a:latin typeface="Calibri" pitchFamily="34" charset="0"/>
                <a:ea typeface="Calibri" pitchFamily="34" charset="-122"/>
                <a:cs typeface="Calibri" pitchFamily="34" charset="-120"/>
              </a:rPr>
              <a:t>The problem extends well beyond medical cases. Students and office workers are a major consumer segment.</a:t>
            </a:r>
            <a:endParaRPr lang="en-US" sz="1100"/>
          </a:p>
        </p:txBody>
      </p:sp>
      <p:sp>
        <p:nvSpPr>
          <p:cNvPr id="207" name="Shape 31">
            <a:extLst>
              <a:ext uri="{FF2B5EF4-FFF2-40B4-BE49-F238E27FC236}">
                <a16:creationId xmlns:a16="http://schemas.microsoft.com/office/drawing/2014/main" id="{F6747A6A-A8C6-826C-A390-E089271D7ADF}"/>
              </a:ext>
            </a:extLst>
          </p:cNvPr>
          <p:cNvSpPr/>
          <p:nvPr/>
        </p:nvSpPr>
        <p:spPr>
          <a:xfrm>
            <a:off x="6275301" y="4522427"/>
            <a:ext cx="2496312" cy="246888"/>
          </a:xfrm>
          <a:prstGeom prst="rect">
            <a:avLst/>
          </a:prstGeom>
          <a:solidFill>
            <a:srgbClr val="EDFAF7"/>
          </a:solidFill>
          <a:ln w="12700">
            <a:solidFill>
              <a:srgbClr val="B2EAE0"/>
            </a:solidFill>
            <a:prstDash val="solid"/>
          </a:ln>
        </p:spPr>
        <p:txBody>
          <a:bodyPr/>
          <a:lstStyle/>
          <a:p>
            <a:endParaRPr lang="en-US"/>
          </a:p>
        </p:txBody>
      </p:sp>
      <p:sp>
        <p:nvSpPr>
          <p:cNvPr id="209" name="Text 32">
            <a:extLst>
              <a:ext uri="{FF2B5EF4-FFF2-40B4-BE49-F238E27FC236}">
                <a16:creationId xmlns:a16="http://schemas.microsoft.com/office/drawing/2014/main" id="{F963375B-C295-EB10-55FA-C2D454B387B2}"/>
              </a:ext>
            </a:extLst>
          </p:cNvPr>
          <p:cNvSpPr/>
          <p:nvPr/>
        </p:nvSpPr>
        <p:spPr>
          <a:xfrm>
            <a:off x="6276799" y="4520715"/>
            <a:ext cx="2496312" cy="246888"/>
          </a:xfrm>
          <a:prstGeom prst="rect">
            <a:avLst/>
          </a:prstGeom>
          <a:noFill/>
          <a:ln/>
        </p:spPr>
        <p:txBody>
          <a:bodyPr wrap="square" lIns="0" tIns="0" rIns="0" bIns="0" rtlCol="0" anchor="ctr"/>
          <a:lstStyle/>
          <a:p>
            <a:pPr marL="0" indent="0" algn="ctr">
              <a:buNone/>
            </a:pPr>
            <a:r>
              <a:rPr lang="en-US" sz="900" i="1">
                <a:solidFill>
                  <a:srgbClr val="00B09B"/>
                </a:solidFill>
                <a:latin typeface="Calibri" pitchFamily="34" charset="0"/>
                <a:ea typeface="Calibri" pitchFamily="34" charset="-122"/>
                <a:cs typeface="Calibri" pitchFamily="34" charset="-120"/>
              </a:rPr>
              <a:t>Proves consumer demand exists beyond Raynaud's.</a:t>
            </a:r>
            <a:endParaRPr lang="en-US" sz="900"/>
          </a:p>
        </p:txBody>
      </p:sp>
    </p:spTree>
    <p:extLst>
      <p:ext uri="{BB962C8B-B14F-4D97-AF65-F5344CB8AC3E}">
        <p14:creationId xmlns:p14="http://schemas.microsoft.com/office/powerpoint/2010/main" val="29221732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3EE"/>
        </a:solidFill>
        <a:effectLst/>
      </p:bgPr>
    </p:bg>
    <p:spTree>
      <p:nvGrpSpPr>
        <p:cNvPr id="1" name="">
          <a:extLst>
            <a:ext uri="{FF2B5EF4-FFF2-40B4-BE49-F238E27FC236}">
              <a16:creationId xmlns:a16="http://schemas.microsoft.com/office/drawing/2014/main" id="{D343222F-945F-9545-5F36-11528095D30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0740EF1-2E0F-2C6E-B604-F87C0C09A064}"/>
              </a:ext>
            </a:extLst>
          </p:cNvPr>
          <p:cNvSpPr/>
          <p:nvPr/>
        </p:nvSpPr>
        <p:spPr>
          <a:xfrm>
            <a:off x="0" y="0"/>
            <a:ext cx="9144000" cy="868680"/>
          </a:xfrm>
          <a:prstGeom prst="rect">
            <a:avLst/>
          </a:prstGeom>
          <a:solidFill>
            <a:srgbClr val="C00000"/>
          </a:solidFill>
          <a:ln w="12700">
            <a:solidFill>
              <a:srgbClr val="0D0D0D"/>
            </a:solidFill>
            <a:prstDash val="solid"/>
          </a:ln>
        </p:spPr>
        <p:txBody>
          <a:bodyPr/>
          <a:lstStyle/>
          <a:p>
            <a:endParaRPr lang="en-US"/>
          </a:p>
        </p:txBody>
      </p:sp>
      <p:sp>
        <p:nvSpPr>
          <p:cNvPr id="4" name="Text 2">
            <a:extLst>
              <a:ext uri="{FF2B5EF4-FFF2-40B4-BE49-F238E27FC236}">
                <a16:creationId xmlns:a16="http://schemas.microsoft.com/office/drawing/2014/main" id="{25426C92-E2FC-C59A-80CA-F7E77FE95A13}"/>
              </a:ext>
            </a:extLst>
          </p:cNvPr>
          <p:cNvSpPr/>
          <p:nvPr/>
        </p:nvSpPr>
        <p:spPr>
          <a:xfrm>
            <a:off x="411480" y="0"/>
            <a:ext cx="8321040" cy="868680"/>
          </a:xfrm>
          <a:prstGeom prst="rect">
            <a:avLst/>
          </a:prstGeom>
          <a:noFill/>
          <a:ln/>
        </p:spPr>
        <p:txBody>
          <a:bodyPr wrap="square" lIns="91440" tIns="45720" rIns="91440" bIns="45720" rtlCol="0" anchor="ctr"/>
          <a:lstStyle/>
          <a:p>
            <a:r>
              <a:rPr lang="en-US" sz="2800" b="1">
                <a:solidFill>
                  <a:srgbClr val="F5F0EB"/>
                </a:solidFill>
                <a:latin typeface="Arial Black"/>
              </a:rPr>
              <a:t>Expert Validation – Dr. Syed Sajjad</a:t>
            </a:r>
          </a:p>
        </p:txBody>
      </p:sp>
      <p:sp>
        <p:nvSpPr>
          <p:cNvPr id="5" name="Shape 2">
            <a:extLst>
              <a:ext uri="{FF2B5EF4-FFF2-40B4-BE49-F238E27FC236}">
                <a16:creationId xmlns:a16="http://schemas.microsoft.com/office/drawing/2014/main" id="{638F2CCE-F3D7-4990-9906-F6C3DC2F113C}"/>
              </a:ext>
            </a:extLst>
          </p:cNvPr>
          <p:cNvSpPr/>
          <p:nvPr/>
        </p:nvSpPr>
        <p:spPr>
          <a:xfrm>
            <a:off x="313619" y="993896"/>
            <a:ext cx="2468880" cy="1508760"/>
          </a:xfrm>
          <a:prstGeom prst="rect">
            <a:avLst/>
          </a:prstGeom>
          <a:solidFill>
            <a:srgbClr val="FFFFFF"/>
          </a:solidFill>
          <a:ln w="12700">
            <a:solidFill>
              <a:srgbClr val="DDDDDD"/>
            </a:solidFill>
            <a:prstDash val="solid"/>
          </a:ln>
          <a:effectLst>
            <a:outerShdw blurRad="76200" dist="25400" dir="8100000" algn="bl" rotWithShape="0">
              <a:srgbClr val="000000">
                <a:alpha val="8000"/>
              </a:srgbClr>
            </a:outerShdw>
          </a:effectLst>
        </p:spPr>
        <p:txBody>
          <a:bodyPr/>
          <a:lstStyle/>
          <a:p>
            <a:endParaRPr lang="en-US"/>
          </a:p>
        </p:txBody>
      </p:sp>
      <p:sp>
        <p:nvSpPr>
          <p:cNvPr id="7" name="Shape 3">
            <a:extLst>
              <a:ext uri="{FF2B5EF4-FFF2-40B4-BE49-F238E27FC236}">
                <a16:creationId xmlns:a16="http://schemas.microsoft.com/office/drawing/2014/main" id="{965444E5-08EB-63BA-56ED-B92F04CCAEE6}"/>
              </a:ext>
            </a:extLst>
          </p:cNvPr>
          <p:cNvSpPr/>
          <p:nvPr/>
        </p:nvSpPr>
        <p:spPr>
          <a:xfrm>
            <a:off x="313619" y="993896"/>
            <a:ext cx="64008" cy="1508760"/>
          </a:xfrm>
          <a:prstGeom prst="rect">
            <a:avLst/>
          </a:prstGeom>
          <a:solidFill>
            <a:srgbClr val="990011"/>
          </a:solidFill>
          <a:ln w="12700">
            <a:solidFill>
              <a:srgbClr val="990011"/>
            </a:solidFill>
            <a:prstDash val="solid"/>
          </a:ln>
        </p:spPr>
        <p:txBody>
          <a:bodyPr/>
          <a:lstStyle/>
          <a:p>
            <a:endParaRPr lang="en-US"/>
          </a:p>
        </p:txBody>
      </p:sp>
      <p:sp>
        <p:nvSpPr>
          <p:cNvPr id="9" name="Text 4">
            <a:extLst>
              <a:ext uri="{FF2B5EF4-FFF2-40B4-BE49-F238E27FC236}">
                <a16:creationId xmlns:a16="http://schemas.microsoft.com/office/drawing/2014/main" id="{ADAF3DD2-92E3-B1CF-A353-FD3A3841261A}"/>
              </a:ext>
            </a:extLst>
          </p:cNvPr>
          <p:cNvSpPr/>
          <p:nvPr/>
        </p:nvSpPr>
        <p:spPr>
          <a:xfrm>
            <a:off x="496499" y="1039616"/>
            <a:ext cx="2194560" cy="685800"/>
          </a:xfrm>
          <a:prstGeom prst="rect">
            <a:avLst/>
          </a:prstGeom>
          <a:noFill/>
          <a:ln/>
        </p:spPr>
        <p:txBody>
          <a:bodyPr wrap="square" lIns="0" tIns="0" rIns="0" bIns="0" rtlCol="0" anchor="ctr"/>
          <a:lstStyle/>
          <a:p>
            <a:pPr marL="0" indent="0">
              <a:buNone/>
            </a:pPr>
            <a:r>
              <a:rPr lang="en-US" sz="4400" b="1">
                <a:solidFill>
                  <a:srgbClr val="990011"/>
                </a:solidFill>
                <a:latin typeface="Arial Black" pitchFamily="34" charset="0"/>
                <a:ea typeface="Arial Black" pitchFamily="34" charset="-122"/>
                <a:cs typeface="Arial Black" pitchFamily="34" charset="-120"/>
              </a:rPr>
              <a:t>3–5%</a:t>
            </a:r>
            <a:endParaRPr lang="en-US" sz="4400"/>
          </a:p>
        </p:txBody>
      </p:sp>
      <p:sp>
        <p:nvSpPr>
          <p:cNvPr id="11" name="Text 5">
            <a:extLst>
              <a:ext uri="{FF2B5EF4-FFF2-40B4-BE49-F238E27FC236}">
                <a16:creationId xmlns:a16="http://schemas.microsoft.com/office/drawing/2014/main" id="{4FE19A88-1A94-EE96-748A-21133BACE71A}"/>
              </a:ext>
            </a:extLst>
          </p:cNvPr>
          <p:cNvSpPr/>
          <p:nvPr/>
        </p:nvSpPr>
        <p:spPr>
          <a:xfrm>
            <a:off x="496499" y="1697984"/>
            <a:ext cx="2148840" cy="685800"/>
          </a:xfrm>
          <a:prstGeom prst="rect">
            <a:avLst/>
          </a:prstGeom>
          <a:noFill/>
          <a:ln/>
        </p:spPr>
        <p:txBody>
          <a:bodyPr wrap="square" lIns="0" tIns="0" rIns="0" bIns="0" rtlCol="0" anchor="t"/>
          <a:lstStyle/>
          <a:p>
            <a:pPr marL="0" indent="0">
              <a:buNone/>
            </a:pPr>
            <a:r>
              <a:rPr lang="en-US" sz="1100">
                <a:solidFill>
                  <a:srgbClr val="444444"/>
                </a:solidFill>
                <a:latin typeface="Calibri" pitchFamily="34" charset="0"/>
                <a:ea typeface="Calibri" pitchFamily="34" charset="-122"/>
                <a:cs typeface="Calibri" pitchFamily="34" charset="-120"/>
              </a:rPr>
              <a:t>of the population has</a:t>
            </a:r>
            <a:endParaRPr lang="en-US" sz="1100"/>
          </a:p>
          <a:p>
            <a:pPr marL="0" indent="0">
              <a:buNone/>
            </a:pPr>
            <a:r>
              <a:rPr lang="en-US" sz="1100">
                <a:solidFill>
                  <a:srgbClr val="444444"/>
                </a:solidFill>
                <a:latin typeface="Calibri" pitchFamily="34" charset="0"/>
                <a:ea typeface="Calibri" pitchFamily="34" charset="-122"/>
                <a:cs typeface="Calibri" pitchFamily="34" charset="-120"/>
              </a:rPr>
              <a:t>Raynaud's Syndrome</a:t>
            </a:r>
          </a:p>
          <a:p>
            <a:endParaRPr lang="en-US" sz="1100">
              <a:solidFill>
                <a:srgbClr val="444444"/>
              </a:solidFill>
              <a:ea typeface="Calibri"/>
              <a:cs typeface="Calibri"/>
            </a:endParaRPr>
          </a:p>
          <a:p>
            <a:r>
              <a:rPr lang="en-US" sz="1100">
                <a:solidFill>
                  <a:srgbClr val="444444"/>
                </a:solidFill>
                <a:ea typeface="Calibri"/>
                <a:cs typeface="Calibri"/>
              </a:rPr>
              <a:t>10,000,000 – 17,000,000 people</a:t>
            </a:r>
          </a:p>
        </p:txBody>
      </p:sp>
      <p:sp>
        <p:nvSpPr>
          <p:cNvPr id="13" name="Shape 6">
            <a:extLst>
              <a:ext uri="{FF2B5EF4-FFF2-40B4-BE49-F238E27FC236}">
                <a16:creationId xmlns:a16="http://schemas.microsoft.com/office/drawing/2014/main" id="{577BEDF0-0F8A-3D99-BC58-8256B94F79E2}"/>
              </a:ext>
            </a:extLst>
          </p:cNvPr>
          <p:cNvSpPr/>
          <p:nvPr/>
        </p:nvSpPr>
        <p:spPr>
          <a:xfrm>
            <a:off x="3011099" y="993896"/>
            <a:ext cx="2606040" cy="1508760"/>
          </a:xfrm>
          <a:prstGeom prst="rect">
            <a:avLst/>
          </a:prstGeom>
          <a:solidFill>
            <a:srgbClr val="FFFFFF"/>
          </a:solidFill>
          <a:ln w="12700">
            <a:solidFill>
              <a:srgbClr val="DDDDDD"/>
            </a:solidFill>
            <a:prstDash val="solid"/>
          </a:ln>
          <a:effectLst>
            <a:outerShdw blurRad="76200" dist="25400" dir="8100000" algn="bl" rotWithShape="0">
              <a:srgbClr val="000000">
                <a:alpha val="8000"/>
              </a:srgbClr>
            </a:outerShdw>
          </a:effectLst>
        </p:spPr>
        <p:txBody>
          <a:bodyPr/>
          <a:lstStyle/>
          <a:p>
            <a:endParaRPr lang="en-US"/>
          </a:p>
        </p:txBody>
      </p:sp>
      <p:sp>
        <p:nvSpPr>
          <p:cNvPr id="15" name="Shape 7">
            <a:extLst>
              <a:ext uri="{FF2B5EF4-FFF2-40B4-BE49-F238E27FC236}">
                <a16:creationId xmlns:a16="http://schemas.microsoft.com/office/drawing/2014/main" id="{27A94D25-00CB-0865-AC0B-BB0B9A6A67DC}"/>
              </a:ext>
            </a:extLst>
          </p:cNvPr>
          <p:cNvSpPr/>
          <p:nvPr/>
        </p:nvSpPr>
        <p:spPr>
          <a:xfrm>
            <a:off x="3011099" y="993896"/>
            <a:ext cx="64008" cy="1508760"/>
          </a:xfrm>
          <a:prstGeom prst="rect">
            <a:avLst/>
          </a:prstGeom>
          <a:solidFill>
            <a:srgbClr val="E8611A"/>
          </a:solidFill>
          <a:ln w="12700">
            <a:solidFill>
              <a:srgbClr val="E8611A"/>
            </a:solidFill>
            <a:prstDash val="solid"/>
          </a:ln>
        </p:spPr>
        <p:txBody>
          <a:bodyPr/>
          <a:lstStyle/>
          <a:p>
            <a:endParaRPr lang="en-US"/>
          </a:p>
        </p:txBody>
      </p:sp>
      <p:sp>
        <p:nvSpPr>
          <p:cNvPr id="17" name="Text 8">
            <a:extLst>
              <a:ext uri="{FF2B5EF4-FFF2-40B4-BE49-F238E27FC236}">
                <a16:creationId xmlns:a16="http://schemas.microsoft.com/office/drawing/2014/main" id="{E4EE5304-5E8F-8D92-99DA-45F9E5950E43}"/>
              </a:ext>
            </a:extLst>
          </p:cNvPr>
          <p:cNvSpPr/>
          <p:nvPr/>
        </p:nvSpPr>
        <p:spPr>
          <a:xfrm>
            <a:off x="3193979" y="1046039"/>
            <a:ext cx="2247471" cy="705063"/>
          </a:xfrm>
          <a:prstGeom prst="rect">
            <a:avLst/>
          </a:prstGeom>
          <a:noFill/>
          <a:ln/>
        </p:spPr>
        <p:txBody>
          <a:bodyPr wrap="square" lIns="0" tIns="0" rIns="0" bIns="0" rtlCol="0" anchor="ctr"/>
          <a:lstStyle/>
          <a:p>
            <a:pPr algn="ctr"/>
            <a:r>
              <a:rPr lang="en-US" sz="2400" b="1">
                <a:solidFill>
                  <a:srgbClr val="E8611A"/>
                </a:solidFill>
                <a:latin typeface="Arial Black"/>
              </a:rPr>
              <a:t>Many others</a:t>
            </a:r>
          </a:p>
        </p:txBody>
      </p:sp>
      <p:sp>
        <p:nvSpPr>
          <p:cNvPr id="19" name="Text 9">
            <a:extLst>
              <a:ext uri="{FF2B5EF4-FFF2-40B4-BE49-F238E27FC236}">
                <a16:creationId xmlns:a16="http://schemas.microsoft.com/office/drawing/2014/main" id="{DE4EEC06-C7D0-F992-96E6-6F1ED12D8D39}"/>
              </a:ext>
            </a:extLst>
          </p:cNvPr>
          <p:cNvSpPr/>
          <p:nvPr/>
        </p:nvSpPr>
        <p:spPr>
          <a:xfrm>
            <a:off x="3193979" y="1816779"/>
            <a:ext cx="2331720" cy="685800"/>
          </a:xfrm>
          <a:prstGeom prst="rect">
            <a:avLst/>
          </a:prstGeom>
          <a:noFill/>
          <a:ln/>
        </p:spPr>
        <p:txBody>
          <a:bodyPr wrap="square" lIns="0" tIns="0" rIns="0" bIns="0" rtlCol="0" anchor="t"/>
          <a:lstStyle/>
          <a:p>
            <a:r>
              <a:rPr lang="en-US" sz="1100">
                <a:solidFill>
                  <a:srgbClr val="444444"/>
                </a:solidFill>
                <a:latin typeface="Calibri"/>
                <a:ea typeface="Calibri"/>
                <a:cs typeface="Calibri"/>
              </a:rPr>
              <a:t>experience Raynaud's Phenomenon, especially those with autoimmune</a:t>
            </a:r>
            <a:endParaRPr lang="en-US" sz="1100">
              <a:latin typeface="Calibri"/>
              <a:ea typeface="Calibri"/>
              <a:cs typeface="Calibri"/>
            </a:endParaRPr>
          </a:p>
          <a:p>
            <a:pPr marL="0" indent="0">
              <a:buNone/>
            </a:pPr>
            <a:r>
              <a:rPr lang="en-US" sz="1100">
                <a:solidFill>
                  <a:srgbClr val="444444"/>
                </a:solidFill>
                <a:latin typeface="Calibri" pitchFamily="34" charset="0"/>
                <a:ea typeface="Calibri" pitchFamily="34" charset="-122"/>
                <a:cs typeface="Calibri" pitchFamily="34" charset="-120"/>
              </a:rPr>
              <a:t>disorders</a:t>
            </a:r>
            <a:endParaRPr lang="en-US" sz="1100"/>
          </a:p>
        </p:txBody>
      </p:sp>
      <p:sp>
        <p:nvSpPr>
          <p:cNvPr id="21" name="Shape 10">
            <a:extLst>
              <a:ext uri="{FF2B5EF4-FFF2-40B4-BE49-F238E27FC236}">
                <a16:creationId xmlns:a16="http://schemas.microsoft.com/office/drawing/2014/main" id="{928AFAD7-5969-1C57-DD20-91A4FB8B3FDA}"/>
              </a:ext>
            </a:extLst>
          </p:cNvPr>
          <p:cNvSpPr/>
          <p:nvPr/>
        </p:nvSpPr>
        <p:spPr>
          <a:xfrm>
            <a:off x="5845739" y="993896"/>
            <a:ext cx="2971800" cy="1508760"/>
          </a:xfrm>
          <a:prstGeom prst="rect">
            <a:avLst/>
          </a:prstGeom>
          <a:solidFill>
            <a:srgbClr val="FFFFFF"/>
          </a:solidFill>
          <a:ln w="12700">
            <a:solidFill>
              <a:srgbClr val="DDDDDD"/>
            </a:solidFill>
            <a:prstDash val="solid"/>
          </a:ln>
          <a:effectLst>
            <a:outerShdw blurRad="76200" dist="25400" dir="8100000" algn="bl" rotWithShape="0">
              <a:srgbClr val="000000">
                <a:alpha val="8000"/>
              </a:srgbClr>
            </a:outerShdw>
          </a:effectLst>
        </p:spPr>
        <p:txBody>
          <a:bodyPr/>
          <a:lstStyle/>
          <a:p>
            <a:endParaRPr lang="en-US"/>
          </a:p>
        </p:txBody>
      </p:sp>
      <p:sp>
        <p:nvSpPr>
          <p:cNvPr id="23" name="Shape 11">
            <a:extLst>
              <a:ext uri="{FF2B5EF4-FFF2-40B4-BE49-F238E27FC236}">
                <a16:creationId xmlns:a16="http://schemas.microsoft.com/office/drawing/2014/main" id="{2B910BE3-447F-7ADE-393B-F3710AB29BC4}"/>
              </a:ext>
            </a:extLst>
          </p:cNvPr>
          <p:cNvSpPr/>
          <p:nvPr/>
        </p:nvSpPr>
        <p:spPr>
          <a:xfrm>
            <a:off x="5845739" y="993896"/>
            <a:ext cx="64008" cy="1508760"/>
          </a:xfrm>
          <a:prstGeom prst="rect">
            <a:avLst/>
          </a:prstGeom>
          <a:solidFill>
            <a:srgbClr val="00B09B"/>
          </a:solidFill>
          <a:ln w="12700">
            <a:solidFill>
              <a:srgbClr val="00B09B"/>
            </a:solidFill>
            <a:prstDash val="solid"/>
          </a:ln>
        </p:spPr>
        <p:txBody>
          <a:bodyPr/>
          <a:lstStyle/>
          <a:p>
            <a:endParaRPr lang="en-US"/>
          </a:p>
        </p:txBody>
      </p:sp>
      <p:sp>
        <p:nvSpPr>
          <p:cNvPr id="25" name="Text 12">
            <a:extLst>
              <a:ext uri="{FF2B5EF4-FFF2-40B4-BE49-F238E27FC236}">
                <a16:creationId xmlns:a16="http://schemas.microsoft.com/office/drawing/2014/main" id="{BA80AE8C-6A93-8734-ED07-D5AD39C8BC0E}"/>
              </a:ext>
            </a:extLst>
          </p:cNvPr>
          <p:cNvSpPr/>
          <p:nvPr/>
        </p:nvSpPr>
        <p:spPr>
          <a:xfrm>
            <a:off x="6028619" y="1039616"/>
            <a:ext cx="2651760" cy="320040"/>
          </a:xfrm>
          <a:prstGeom prst="rect">
            <a:avLst/>
          </a:prstGeom>
          <a:noFill/>
          <a:ln/>
        </p:spPr>
        <p:txBody>
          <a:bodyPr wrap="square" lIns="0" tIns="0" rIns="0" bIns="0" rtlCol="0" anchor="ctr"/>
          <a:lstStyle/>
          <a:p>
            <a:pPr marL="0" indent="0">
              <a:buNone/>
            </a:pPr>
            <a:r>
              <a:rPr lang="en-US" sz="1300" b="1">
                <a:solidFill>
                  <a:srgbClr val="00B09B"/>
                </a:solidFill>
                <a:latin typeface="Calibri" pitchFamily="34" charset="0"/>
                <a:ea typeface="Calibri" pitchFamily="34" charset="-122"/>
                <a:cs typeface="Calibri" pitchFamily="34" charset="-120"/>
              </a:rPr>
              <a:t>Syndrome vs. Phenomenon</a:t>
            </a:r>
            <a:endParaRPr lang="en-US" sz="1300"/>
          </a:p>
        </p:txBody>
      </p:sp>
      <p:sp>
        <p:nvSpPr>
          <p:cNvPr id="27" name="Text 13">
            <a:extLst>
              <a:ext uri="{FF2B5EF4-FFF2-40B4-BE49-F238E27FC236}">
                <a16:creationId xmlns:a16="http://schemas.microsoft.com/office/drawing/2014/main" id="{2BD9561B-8F1E-786A-18C5-F979033B2318}"/>
              </a:ext>
            </a:extLst>
          </p:cNvPr>
          <p:cNvSpPr/>
          <p:nvPr/>
        </p:nvSpPr>
        <p:spPr>
          <a:xfrm>
            <a:off x="6028619" y="1359656"/>
            <a:ext cx="2651760" cy="1005840"/>
          </a:xfrm>
          <a:prstGeom prst="rect">
            <a:avLst/>
          </a:prstGeom>
          <a:noFill/>
          <a:ln/>
        </p:spPr>
        <p:txBody>
          <a:bodyPr wrap="square" lIns="0" tIns="0" rIns="0" bIns="0" rtlCol="0" anchor="t"/>
          <a:lstStyle/>
          <a:p>
            <a:pPr marL="0" indent="0">
              <a:buNone/>
            </a:pPr>
            <a:r>
              <a:rPr lang="en-US" sz="1100" b="1">
                <a:solidFill>
                  <a:srgbClr val="990011"/>
                </a:solidFill>
                <a:latin typeface="Calibri" pitchFamily="34" charset="0"/>
                <a:ea typeface="Calibri" pitchFamily="34" charset="-122"/>
                <a:cs typeface="Calibri" pitchFamily="34" charset="-120"/>
              </a:rPr>
              <a:t>Syndrome:</a:t>
            </a:r>
            <a:r>
              <a:rPr lang="en-US" sz="1100">
                <a:solidFill>
                  <a:srgbClr val="444444"/>
                </a:solidFill>
                <a:latin typeface="Calibri" pitchFamily="34" charset="0"/>
                <a:ea typeface="Calibri" pitchFamily="34" charset="-122"/>
                <a:cs typeface="Calibri" pitchFamily="34" charset="-120"/>
              </a:rPr>
              <a:t> Clinically diagnosed condition.
</a:t>
            </a:r>
            <a:r>
              <a:rPr lang="en-US" sz="1100" b="1">
                <a:solidFill>
                  <a:srgbClr val="E8611A"/>
                </a:solidFill>
                <a:latin typeface="Calibri" pitchFamily="34" charset="0"/>
                <a:ea typeface="Calibri" pitchFamily="34" charset="-122"/>
                <a:cs typeface="Calibri" pitchFamily="34" charset="-120"/>
              </a:rPr>
              <a:t>Phenomenon:</a:t>
            </a:r>
            <a:r>
              <a:rPr lang="en-US" sz="1100">
                <a:solidFill>
                  <a:srgbClr val="444444"/>
                </a:solidFill>
                <a:latin typeface="Calibri" pitchFamily="34" charset="0"/>
                <a:ea typeface="Calibri" pitchFamily="34" charset="-122"/>
                <a:cs typeface="Calibri" pitchFamily="34" charset="-120"/>
              </a:rPr>
              <a:t> Same symptoms in patients with autoimmune disorders or without a formal diagnosis.</a:t>
            </a:r>
            <a:endParaRPr lang="en-US" sz="1100"/>
          </a:p>
        </p:txBody>
      </p:sp>
      <p:sp>
        <p:nvSpPr>
          <p:cNvPr id="29" name="Shape 14">
            <a:extLst>
              <a:ext uri="{FF2B5EF4-FFF2-40B4-BE49-F238E27FC236}">
                <a16:creationId xmlns:a16="http://schemas.microsoft.com/office/drawing/2014/main" id="{0B37D385-22D8-3BB6-4BA7-898E710A2FEC}"/>
              </a:ext>
            </a:extLst>
          </p:cNvPr>
          <p:cNvSpPr/>
          <p:nvPr/>
        </p:nvSpPr>
        <p:spPr>
          <a:xfrm>
            <a:off x="313619" y="2703824"/>
            <a:ext cx="8503920" cy="2240280"/>
          </a:xfrm>
          <a:prstGeom prst="rect">
            <a:avLst/>
          </a:prstGeom>
          <a:solidFill>
            <a:srgbClr val="1A1A1A"/>
          </a:solidFill>
          <a:ln w="12700">
            <a:solidFill>
              <a:srgbClr val="1A1A1A"/>
            </a:solidFill>
            <a:prstDash val="solid"/>
          </a:ln>
          <a:effectLst>
            <a:outerShdw blurRad="101600" dist="38100" dir="8100000" algn="bl" rotWithShape="0">
              <a:srgbClr val="000000">
                <a:alpha val="18000"/>
              </a:srgbClr>
            </a:outerShdw>
          </a:effectLst>
        </p:spPr>
        <p:txBody>
          <a:bodyPr/>
          <a:lstStyle/>
          <a:p>
            <a:endParaRPr lang="en-US"/>
          </a:p>
        </p:txBody>
      </p:sp>
      <p:sp>
        <p:nvSpPr>
          <p:cNvPr id="31" name="Text 15">
            <a:extLst>
              <a:ext uri="{FF2B5EF4-FFF2-40B4-BE49-F238E27FC236}">
                <a16:creationId xmlns:a16="http://schemas.microsoft.com/office/drawing/2014/main" id="{8789AFC5-ABA5-BF24-5598-D1810BA0C42C}"/>
              </a:ext>
            </a:extLst>
          </p:cNvPr>
          <p:cNvSpPr/>
          <p:nvPr/>
        </p:nvSpPr>
        <p:spPr>
          <a:xfrm>
            <a:off x="405059" y="2639816"/>
            <a:ext cx="548640" cy="731520"/>
          </a:xfrm>
          <a:prstGeom prst="rect">
            <a:avLst/>
          </a:prstGeom>
          <a:noFill/>
          <a:ln/>
        </p:spPr>
        <p:txBody>
          <a:bodyPr wrap="square" lIns="0" tIns="0" rIns="0" bIns="0" rtlCol="0" anchor="t"/>
          <a:lstStyle/>
          <a:p>
            <a:pPr marL="0" indent="0">
              <a:buNone/>
            </a:pPr>
            <a:r>
              <a:rPr lang="en-US" sz="6000" b="1">
                <a:solidFill>
                  <a:srgbClr val="990011"/>
                </a:solidFill>
                <a:latin typeface="Arial Black" pitchFamily="34" charset="0"/>
                <a:ea typeface="Arial Black" pitchFamily="34" charset="-122"/>
                <a:cs typeface="Arial Black" pitchFamily="34" charset="-120"/>
              </a:rPr>
              <a:t>“</a:t>
            </a:r>
            <a:endParaRPr lang="en-US" sz="6000"/>
          </a:p>
        </p:txBody>
      </p:sp>
      <p:sp>
        <p:nvSpPr>
          <p:cNvPr id="33" name="Text 16">
            <a:extLst>
              <a:ext uri="{FF2B5EF4-FFF2-40B4-BE49-F238E27FC236}">
                <a16:creationId xmlns:a16="http://schemas.microsoft.com/office/drawing/2014/main" id="{77037902-7BB1-F3E8-28ED-04F08F019660}"/>
              </a:ext>
            </a:extLst>
          </p:cNvPr>
          <p:cNvSpPr/>
          <p:nvPr/>
        </p:nvSpPr>
        <p:spPr>
          <a:xfrm>
            <a:off x="862259" y="2776976"/>
            <a:ext cx="7589520" cy="502920"/>
          </a:xfrm>
          <a:prstGeom prst="rect">
            <a:avLst/>
          </a:prstGeom>
          <a:noFill/>
          <a:ln/>
        </p:spPr>
        <p:txBody>
          <a:bodyPr wrap="square" lIns="0" tIns="0" rIns="0" bIns="0" rtlCol="0" anchor="ctr"/>
          <a:lstStyle/>
          <a:p>
            <a:pPr marL="0" indent="0">
              <a:buNone/>
            </a:pPr>
            <a:r>
              <a:rPr lang="en-US" sz="1800" b="1" i="1">
                <a:solidFill>
                  <a:srgbClr val="FFFFFF"/>
                </a:solidFill>
                <a:latin typeface="Calibri" pitchFamily="34" charset="0"/>
                <a:ea typeface="Calibri" pitchFamily="34" charset="-122"/>
                <a:cs typeface="Calibri" pitchFamily="34" charset="-120"/>
              </a:rPr>
              <a:t>Current solutions are not localized enough to the problem.</a:t>
            </a:r>
            <a:endParaRPr lang="en-US" sz="1800"/>
          </a:p>
        </p:txBody>
      </p:sp>
      <p:sp>
        <p:nvSpPr>
          <p:cNvPr id="35" name="Text 17">
            <a:extLst>
              <a:ext uri="{FF2B5EF4-FFF2-40B4-BE49-F238E27FC236}">
                <a16:creationId xmlns:a16="http://schemas.microsoft.com/office/drawing/2014/main" id="{DB47064A-3181-096E-3D4D-3BCABC4973B8}"/>
              </a:ext>
            </a:extLst>
          </p:cNvPr>
          <p:cNvSpPr/>
          <p:nvPr/>
        </p:nvSpPr>
        <p:spPr>
          <a:xfrm>
            <a:off x="862259" y="3325616"/>
            <a:ext cx="7589520" cy="822960"/>
          </a:xfrm>
          <a:prstGeom prst="rect">
            <a:avLst/>
          </a:prstGeom>
          <a:noFill/>
          <a:ln/>
        </p:spPr>
        <p:txBody>
          <a:bodyPr wrap="square" lIns="0" tIns="0" rIns="0" bIns="0" rtlCol="0" anchor="t"/>
          <a:lstStyle/>
          <a:p>
            <a:r>
              <a:rPr lang="en-US" sz="1200">
                <a:solidFill>
                  <a:srgbClr val="BBBBBB"/>
                </a:solidFill>
                <a:latin typeface="Calibri"/>
                <a:ea typeface="Calibri"/>
                <a:cs typeface="Calibri"/>
              </a:rPr>
              <a:t>Patients who experience Raynaud's Phenomenon often complain that generic solutions, like space heaters, warm their entire body and hands indiscriminately. The Hot Rod's localized heating addresses this directly, warming only the hands without overheating the rest of the body.</a:t>
            </a:r>
            <a:endParaRPr lang="en-US" sz="1200">
              <a:latin typeface="Calibri"/>
              <a:ea typeface="Calibri"/>
              <a:cs typeface="Calibri"/>
            </a:endParaRPr>
          </a:p>
        </p:txBody>
      </p:sp>
      <p:sp>
        <p:nvSpPr>
          <p:cNvPr id="37" name="Text 18">
            <a:extLst>
              <a:ext uri="{FF2B5EF4-FFF2-40B4-BE49-F238E27FC236}">
                <a16:creationId xmlns:a16="http://schemas.microsoft.com/office/drawing/2014/main" id="{A92041F4-020A-88B5-757A-02D9250300A4}"/>
              </a:ext>
            </a:extLst>
          </p:cNvPr>
          <p:cNvSpPr/>
          <p:nvPr/>
        </p:nvSpPr>
        <p:spPr>
          <a:xfrm>
            <a:off x="862259" y="4221728"/>
            <a:ext cx="3657600" cy="320040"/>
          </a:xfrm>
          <a:prstGeom prst="rect">
            <a:avLst/>
          </a:prstGeom>
          <a:noFill/>
          <a:ln/>
        </p:spPr>
        <p:txBody>
          <a:bodyPr wrap="square" lIns="0" tIns="0" rIns="0" bIns="0" rtlCol="0" anchor="ctr"/>
          <a:lstStyle/>
          <a:p>
            <a:pPr marL="0" indent="0">
              <a:buNone/>
            </a:pPr>
            <a:r>
              <a:rPr lang="en-US" sz="1200" b="1" i="1">
                <a:solidFill>
                  <a:srgbClr val="00B09B"/>
                </a:solidFill>
                <a:latin typeface="Calibri" pitchFamily="34" charset="0"/>
                <a:ea typeface="Calibri" pitchFamily="34" charset="-122"/>
                <a:cs typeface="Calibri" pitchFamily="34" charset="-120"/>
              </a:rPr>
              <a:t>— Dr. Syed Sajjad, M.D.</a:t>
            </a:r>
            <a:endParaRPr lang="en-US" sz="1200"/>
          </a:p>
        </p:txBody>
      </p:sp>
    </p:spTree>
    <p:extLst>
      <p:ext uri="{BB962C8B-B14F-4D97-AF65-F5344CB8AC3E}">
        <p14:creationId xmlns:p14="http://schemas.microsoft.com/office/powerpoint/2010/main" val="33740739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7F3EE"/>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C00000"/>
          </a:solidFill>
          <a:ln w="12700">
            <a:solidFill>
              <a:srgbClr val="0D0D0D"/>
            </a:solidFill>
            <a:prstDash val="solid"/>
          </a:ln>
        </p:spPr>
        <p:txBody>
          <a:bodyPr/>
          <a:lstStyle/>
          <a:p>
            <a:endParaRPr lang="en-US"/>
          </a:p>
        </p:txBody>
      </p:sp>
      <p:sp>
        <p:nvSpPr>
          <p:cNvPr id="4" name="Text 2"/>
          <p:cNvSpPr/>
          <p:nvPr/>
        </p:nvSpPr>
        <p:spPr>
          <a:xfrm>
            <a:off x="411480" y="0"/>
            <a:ext cx="8321040" cy="868680"/>
          </a:xfrm>
          <a:prstGeom prst="rect">
            <a:avLst/>
          </a:prstGeom>
          <a:noFill/>
          <a:ln/>
        </p:spPr>
        <p:txBody>
          <a:bodyPr wrap="square" rtlCol="0" anchor="ctr"/>
          <a:lstStyle/>
          <a:p>
            <a:pPr marL="0" indent="0">
              <a:buNone/>
            </a:pPr>
            <a:r>
              <a:rPr lang="en-US" sz="2800" b="1">
                <a:solidFill>
                  <a:srgbClr val="F5F0EB"/>
                </a:solidFill>
                <a:latin typeface="Arial Black" pitchFamily="34" charset="0"/>
                <a:ea typeface="Arial Black" pitchFamily="34" charset="-122"/>
                <a:cs typeface="Arial Black" pitchFamily="34" charset="-120"/>
              </a:rPr>
              <a:t>Prototype Demo / Functionality</a:t>
            </a:r>
            <a:endParaRPr lang="en-US" sz="2800"/>
          </a:p>
        </p:txBody>
      </p:sp>
      <p:sp>
        <p:nvSpPr>
          <p:cNvPr id="5" name="Shape 3"/>
          <p:cNvSpPr/>
          <p:nvPr/>
        </p:nvSpPr>
        <p:spPr>
          <a:xfrm>
            <a:off x="256032" y="1005840"/>
            <a:ext cx="2743200" cy="3840480"/>
          </a:xfrm>
          <a:prstGeom prst="rect">
            <a:avLst/>
          </a:prstGeom>
          <a:solidFill>
            <a:srgbClr val="FFFFFF"/>
          </a:solidFill>
          <a:ln/>
          <a:effectLst>
            <a:outerShdw blurRad="101600" dist="25400" dir="8100000" algn="bl" rotWithShape="0">
              <a:srgbClr val="000000">
                <a:alpha val="10000"/>
              </a:srgbClr>
            </a:outerShdw>
          </a:effectLst>
        </p:spPr>
        <p:txBody>
          <a:bodyPr/>
          <a:lstStyle/>
          <a:p>
            <a:endParaRPr lang="en-US"/>
          </a:p>
        </p:txBody>
      </p:sp>
      <p:sp>
        <p:nvSpPr>
          <p:cNvPr id="6" name="Shape 4"/>
          <p:cNvSpPr/>
          <p:nvPr/>
        </p:nvSpPr>
        <p:spPr>
          <a:xfrm>
            <a:off x="256032" y="1005840"/>
            <a:ext cx="2743200" cy="73152"/>
          </a:xfrm>
          <a:prstGeom prst="rect">
            <a:avLst/>
          </a:prstGeom>
          <a:solidFill>
            <a:srgbClr val="E84B25"/>
          </a:solidFill>
          <a:ln w="12700">
            <a:solidFill>
              <a:srgbClr val="E84B25"/>
            </a:solidFill>
            <a:prstDash val="solid"/>
          </a:ln>
        </p:spPr>
        <p:txBody>
          <a:bodyPr/>
          <a:lstStyle/>
          <a:p>
            <a:endParaRPr lang="en-US"/>
          </a:p>
        </p:txBody>
      </p:sp>
      <p:sp>
        <p:nvSpPr>
          <p:cNvPr id="7" name="Shape 5"/>
          <p:cNvSpPr/>
          <p:nvPr/>
        </p:nvSpPr>
        <p:spPr>
          <a:xfrm>
            <a:off x="393192" y="1143000"/>
            <a:ext cx="548640" cy="548640"/>
          </a:xfrm>
          <a:prstGeom prst="ellipse">
            <a:avLst/>
          </a:prstGeom>
          <a:solidFill>
            <a:srgbClr val="E84B25"/>
          </a:solidFill>
          <a:ln w="12700">
            <a:solidFill>
              <a:srgbClr val="E84B25"/>
            </a:solidFill>
            <a:prstDash val="solid"/>
          </a:ln>
        </p:spPr>
        <p:txBody>
          <a:bodyPr/>
          <a:lstStyle/>
          <a:p>
            <a:endParaRPr lang="en-US"/>
          </a:p>
        </p:txBody>
      </p:sp>
      <p:sp>
        <p:nvSpPr>
          <p:cNvPr id="8" name="Text 6"/>
          <p:cNvSpPr/>
          <p:nvPr/>
        </p:nvSpPr>
        <p:spPr>
          <a:xfrm>
            <a:off x="393192" y="1143000"/>
            <a:ext cx="548640" cy="548640"/>
          </a:xfrm>
          <a:prstGeom prst="rect">
            <a:avLst/>
          </a:prstGeom>
          <a:noFill/>
          <a:ln/>
        </p:spPr>
        <p:txBody>
          <a:bodyPr wrap="square" rtlCol="0" anchor="ctr"/>
          <a:lstStyle/>
          <a:p>
            <a:pPr marL="0" indent="0" algn="ctr">
              <a:buNone/>
            </a:pPr>
            <a:r>
              <a:rPr lang="en-US" sz="1100" b="1">
                <a:solidFill>
                  <a:srgbClr val="FFFFFF"/>
                </a:solidFill>
                <a:latin typeface="Arial Black" pitchFamily="34" charset="0"/>
                <a:ea typeface="Arial Black" pitchFamily="34" charset="-122"/>
                <a:cs typeface="Arial Black" pitchFamily="34" charset="-120"/>
              </a:rPr>
              <a:t>v1</a:t>
            </a:r>
            <a:endParaRPr lang="en-US" sz="1100"/>
          </a:p>
        </p:txBody>
      </p:sp>
      <p:sp>
        <p:nvSpPr>
          <p:cNvPr id="9" name="Text 7"/>
          <p:cNvSpPr/>
          <p:nvPr/>
        </p:nvSpPr>
        <p:spPr>
          <a:xfrm>
            <a:off x="393192" y="1783080"/>
            <a:ext cx="2468880" cy="457200"/>
          </a:xfrm>
          <a:prstGeom prst="rect">
            <a:avLst/>
          </a:prstGeom>
          <a:noFill/>
          <a:ln/>
        </p:spPr>
        <p:txBody>
          <a:bodyPr wrap="square" rtlCol="0" anchor="ctr"/>
          <a:lstStyle/>
          <a:p>
            <a:pPr marL="0" indent="0">
              <a:buNone/>
            </a:pPr>
            <a:r>
              <a:rPr lang="en-US" sz="1300" b="1">
                <a:solidFill>
                  <a:srgbClr val="1C1C1C"/>
                </a:solidFill>
                <a:latin typeface="Calibri" pitchFamily="34" charset="0"/>
                <a:ea typeface="Calibri" pitchFamily="34" charset="-122"/>
                <a:cs typeface="Calibri" pitchFamily="34" charset="-120"/>
              </a:rPr>
              <a:t>Heating Coil Pad</a:t>
            </a:r>
            <a:endParaRPr lang="en-US" sz="1300"/>
          </a:p>
        </p:txBody>
      </p:sp>
      <p:sp>
        <p:nvSpPr>
          <p:cNvPr id="10" name="Text 8"/>
          <p:cNvSpPr/>
          <p:nvPr/>
        </p:nvSpPr>
        <p:spPr>
          <a:xfrm>
            <a:off x="393192" y="2286000"/>
            <a:ext cx="2468880" cy="1005840"/>
          </a:xfrm>
          <a:prstGeom prst="rect">
            <a:avLst/>
          </a:prstGeom>
          <a:noFill/>
          <a:ln/>
        </p:spPr>
        <p:txBody>
          <a:bodyPr wrap="square" rtlCol="0" anchor="ctr"/>
          <a:lstStyle/>
          <a:p>
            <a:pPr marL="0" indent="0">
              <a:buNone/>
            </a:pPr>
            <a:r>
              <a:rPr lang="en-US" sz="1100">
                <a:solidFill>
                  <a:srgbClr val="555555"/>
                </a:solidFill>
                <a:latin typeface="Calibri" pitchFamily="34" charset="0"/>
                <a:ea typeface="Calibri" pitchFamily="34" charset="-122"/>
                <a:cs typeface="Calibri" pitchFamily="34" charset="-120"/>
              </a:rPr>
              <a:t>Slots over keyboard. Coil pad positioned above to warm hands.</a:t>
            </a:r>
            <a:endParaRPr lang="en-US" sz="1100"/>
          </a:p>
        </p:txBody>
      </p:sp>
      <p:sp>
        <p:nvSpPr>
          <p:cNvPr id="11" name="Shape 9"/>
          <p:cNvSpPr/>
          <p:nvPr/>
        </p:nvSpPr>
        <p:spPr>
          <a:xfrm>
            <a:off x="347472" y="3383280"/>
            <a:ext cx="2578608" cy="1097280"/>
          </a:xfrm>
          <a:prstGeom prst="rect">
            <a:avLst/>
          </a:prstGeom>
          <a:solidFill>
            <a:srgbClr val="FFF5EE"/>
          </a:solidFill>
          <a:ln w="12700">
            <a:solidFill>
              <a:srgbClr val="E84B25"/>
            </a:solidFill>
            <a:prstDash val="solid"/>
          </a:ln>
        </p:spPr>
        <p:txBody>
          <a:bodyPr/>
          <a:lstStyle/>
          <a:p>
            <a:endParaRPr lang="en-US"/>
          </a:p>
        </p:txBody>
      </p:sp>
      <p:sp>
        <p:nvSpPr>
          <p:cNvPr id="12" name="Text 10"/>
          <p:cNvSpPr/>
          <p:nvPr/>
        </p:nvSpPr>
        <p:spPr>
          <a:xfrm>
            <a:off x="438912" y="3429000"/>
            <a:ext cx="2377440" cy="320040"/>
          </a:xfrm>
          <a:prstGeom prst="rect">
            <a:avLst/>
          </a:prstGeom>
          <a:noFill/>
          <a:ln/>
        </p:spPr>
        <p:txBody>
          <a:bodyPr wrap="square" rtlCol="0" anchor="ctr"/>
          <a:lstStyle/>
          <a:p>
            <a:pPr marL="0" indent="0">
              <a:buNone/>
            </a:pPr>
            <a:r>
              <a:rPr lang="en-US" sz="1000" b="1">
                <a:solidFill>
                  <a:srgbClr val="E84B25"/>
                </a:solidFill>
                <a:latin typeface="Calibri" pitchFamily="34" charset="0"/>
                <a:ea typeface="Calibri" pitchFamily="34" charset="-122"/>
                <a:cs typeface="Calibri" pitchFamily="34" charset="-120"/>
              </a:rPr>
              <a:t>⚠  Revised →</a:t>
            </a:r>
            <a:endParaRPr lang="en-US" sz="1000"/>
          </a:p>
        </p:txBody>
      </p:sp>
      <p:sp>
        <p:nvSpPr>
          <p:cNvPr id="13" name="Text 11"/>
          <p:cNvSpPr/>
          <p:nvPr/>
        </p:nvSpPr>
        <p:spPr>
          <a:xfrm>
            <a:off x="438912" y="3767328"/>
            <a:ext cx="2377440" cy="658368"/>
          </a:xfrm>
          <a:prstGeom prst="rect">
            <a:avLst/>
          </a:prstGeom>
          <a:noFill/>
          <a:ln/>
        </p:spPr>
        <p:txBody>
          <a:bodyPr wrap="square" rtlCol="0" anchor="ctr"/>
          <a:lstStyle/>
          <a:p>
            <a:pPr marL="0" indent="0">
              <a:buNone/>
            </a:pPr>
            <a:r>
              <a:rPr lang="en-US" sz="1000">
                <a:solidFill>
                  <a:srgbClr val="884400"/>
                </a:solidFill>
                <a:latin typeface="Calibri" pitchFamily="34" charset="0"/>
                <a:ea typeface="Calibri" pitchFamily="34" charset="-122"/>
                <a:cs typeface="Calibri" pitchFamily="34" charset="-120"/>
              </a:rPr>
              <a:t>Coils directly exposed — burn risk. No height adjustability.</a:t>
            </a:r>
            <a:endParaRPr lang="en-US" sz="1000"/>
          </a:p>
        </p:txBody>
      </p:sp>
      <p:sp>
        <p:nvSpPr>
          <p:cNvPr id="14" name="Shape 12"/>
          <p:cNvSpPr/>
          <p:nvPr/>
        </p:nvSpPr>
        <p:spPr>
          <a:xfrm>
            <a:off x="3163824" y="1005840"/>
            <a:ext cx="2743200" cy="3840480"/>
          </a:xfrm>
          <a:prstGeom prst="rect">
            <a:avLst/>
          </a:prstGeom>
          <a:solidFill>
            <a:srgbClr val="FFFFFF"/>
          </a:solidFill>
          <a:ln/>
          <a:effectLst>
            <a:outerShdw blurRad="101600" dist="25400" dir="8100000" algn="bl" rotWithShape="0">
              <a:srgbClr val="000000">
                <a:alpha val="10000"/>
              </a:srgbClr>
            </a:outerShdw>
          </a:effectLst>
        </p:spPr>
        <p:txBody>
          <a:bodyPr/>
          <a:lstStyle/>
          <a:p>
            <a:endParaRPr lang="en-US"/>
          </a:p>
        </p:txBody>
      </p:sp>
      <p:sp>
        <p:nvSpPr>
          <p:cNvPr id="15" name="Shape 13"/>
          <p:cNvSpPr/>
          <p:nvPr/>
        </p:nvSpPr>
        <p:spPr>
          <a:xfrm>
            <a:off x="3163824" y="1005840"/>
            <a:ext cx="2743200" cy="73152"/>
          </a:xfrm>
          <a:prstGeom prst="rect">
            <a:avLst/>
          </a:prstGeom>
          <a:solidFill>
            <a:srgbClr val="F4A020"/>
          </a:solidFill>
          <a:ln w="12700">
            <a:solidFill>
              <a:srgbClr val="F4A020"/>
            </a:solidFill>
            <a:prstDash val="solid"/>
          </a:ln>
        </p:spPr>
        <p:txBody>
          <a:bodyPr/>
          <a:lstStyle/>
          <a:p>
            <a:endParaRPr lang="en-US"/>
          </a:p>
        </p:txBody>
      </p:sp>
      <p:sp>
        <p:nvSpPr>
          <p:cNvPr id="16" name="Shape 14"/>
          <p:cNvSpPr/>
          <p:nvPr/>
        </p:nvSpPr>
        <p:spPr>
          <a:xfrm>
            <a:off x="3300984" y="1143000"/>
            <a:ext cx="548640" cy="548640"/>
          </a:xfrm>
          <a:prstGeom prst="ellipse">
            <a:avLst/>
          </a:prstGeom>
          <a:solidFill>
            <a:srgbClr val="F4A020"/>
          </a:solidFill>
          <a:ln w="12700">
            <a:solidFill>
              <a:srgbClr val="F4A020"/>
            </a:solidFill>
            <a:prstDash val="solid"/>
          </a:ln>
        </p:spPr>
        <p:txBody>
          <a:bodyPr/>
          <a:lstStyle/>
          <a:p>
            <a:endParaRPr lang="en-US"/>
          </a:p>
        </p:txBody>
      </p:sp>
      <p:sp>
        <p:nvSpPr>
          <p:cNvPr id="17" name="Text 15"/>
          <p:cNvSpPr/>
          <p:nvPr/>
        </p:nvSpPr>
        <p:spPr>
          <a:xfrm>
            <a:off x="3300984" y="1143000"/>
            <a:ext cx="548640" cy="548640"/>
          </a:xfrm>
          <a:prstGeom prst="rect">
            <a:avLst/>
          </a:prstGeom>
          <a:noFill/>
          <a:ln/>
        </p:spPr>
        <p:txBody>
          <a:bodyPr wrap="square" rtlCol="0" anchor="ctr"/>
          <a:lstStyle/>
          <a:p>
            <a:pPr marL="0" indent="0" algn="ctr">
              <a:buNone/>
            </a:pPr>
            <a:r>
              <a:rPr lang="en-US" sz="1100" b="1">
                <a:solidFill>
                  <a:srgbClr val="FFFFFF"/>
                </a:solidFill>
                <a:latin typeface="Arial Black" pitchFamily="34" charset="0"/>
                <a:ea typeface="Arial Black" pitchFamily="34" charset="-122"/>
                <a:cs typeface="Arial Black" pitchFamily="34" charset="-120"/>
              </a:rPr>
              <a:t>v2</a:t>
            </a:r>
            <a:endParaRPr lang="en-US" sz="1100"/>
          </a:p>
        </p:txBody>
      </p:sp>
      <p:sp>
        <p:nvSpPr>
          <p:cNvPr id="18" name="Text 16"/>
          <p:cNvSpPr/>
          <p:nvPr/>
        </p:nvSpPr>
        <p:spPr>
          <a:xfrm>
            <a:off x="3300984" y="1783080"/>
            <a:ext cx="2468880" cy="457200"/>
          </a:xfrm>
          <a:prstGeom prst="rect">
            <a:avLst/>
          </a:prstGeom>
          <a:noFill/>
          <a:ln/>
        </p:spPr>
        <p:txBody>
          <a:bodyPr wrap="square" rtlCol="0" anchor="ctr"/>
          <a:lstStyle/>
          <a:p>
            <a:pPr marL="0" indent="0">
              <a:buNone/>
            </a:pPr>
            <a:r>
              <a:rPr lang="en-US" sz="1300" b="1">
                <a:solidFill>
                  <a:srgbClr val="1C1C1C"/>
                </a:solidFill>
                <a:latin typeface="Calibri" pitchFamily="34" charset="0"/>
                <a:ea typeface="Calibri" pitchFamily="34" charset="-122"/>
                <a:cs typeface="Calibri" pitchFamily="34" charset="-120"/>
              </a:rPr>
              <a:t>Grate </a:t>
            </a:r>
            <a:endParaRPr lang="en-US" sz="1300"/>
          </a:p>
        </p:txBody>
      </p:sp>
      <p:sp>
        <p:nvSpPr>
          <p:cNvPr id="19" name="Text 17"/>
          <p:cNvSpPr/>
          <p:nvPr/>
        </p:nvSpPr>
        <p:spPr>
          <a:xfrm>
            <a:off x="3300984" y="2286000"/>
            <a:ext cx="2468880" cy="1005840"/>
          </a:xfrm>
          <a:prstGeom prst="rect">
            <a:avLst/>
          </a:prstGeom>
          <a:noFill/>
          <a:ln/>
        </p:spPr>
        <p:txBody>
          <a:bodyPr wrap="square" lIns="91440" tIns="45720" rIns="91440" bIns="45720" rtlCol="0" anchor="ctr"/>
          <a:lstStyle/>
          <a:p>
            <a:r>
              <a:rPr lang="en-US" sz="1100">
                <a:solidFill>
                  <a:srgbClr val="555555"/>
                </a:solidFill>
                <a:latin typeface="Calibri"/>
                <a:ea typeface="Calibri"/>
                <a:cs typeface="Calibri"/>
              </a:rPr>
              <a:t>Added enclosing over coils.. Adjustable legs for height.</a:t>
            </a:r>
            <a:endParaRPr lang="en-US" sz="1100">
              <a:latin typeface="Calibri"/>
              <a:ea typeface="Calibri"/>
              <a:cs typeface="Calibri"/>
            </a:endParaRPr>
          </a:p>
        </p:txBody>
      </p:sp>
      <p:sp>
        <p:nvSpPr>
          <p:cNvPr id="20" name="Shape 18"/>
          <p:cNvSpPr/>
          <p:nvPr/>
        </p:nvSpPr>
        <p:spPr>
          <a:xfrm>
            <a:off x="3255264" y="3383280"/>
            <a:ext cx="2578608" cy="1097280"/>
          </a:xfrm>
          <a:prstGeom prst="rect">
            <a:avLst/>
          </a:prstGeom>
          <a:solidFill>
            <a:srgbClr val="FFF5EE"/>
          </a:solidFill>
          <a:ln w="12700">
            <a:solidFill>
              <a:srgbClr val="F4A020"/>
            </a:solidFill>
            <a:prstDash val="solid"/>
          </a:ln>
        </p:spPr>
        <p:txBody>
          <a:bodyPr/>
          <a:lstStyle/>
          <a:p>
            <a:endParaRPr lang="en-US"/>
          </a:p>
        </p:txBody>
      </p:sp>
      <p:sp>
        <p:nvSpPr>
          <p:cNvPr id="21" name="Text 19"/>
          <p:cNvSpPr/>
          <p:nvPr/>
        </p:nvSpPr>
        <p:spPr>
          <a:xfrm>
            <a:off x="3346704" y="3429000"/>
            <a:ext cx="2377440" cy="320040"/>
          </a:xfrm>
          <a:prstGeom prst="rect">
            <a:avLst/>
          </a:prstGeom>
          <a:noFill/>
          <a:ln/>
        </p:spPr>
        <p:txBody>
          <a:bodyPr wrap="square" rtlCol="0" anchor="ctr"/>
          <a:lstStyle/>
          <a:p>
            <a:pPr marL="0" indent="0">
              <a:buNone/>
            </a:pPr>
            <a:r>
              <a:rPr lang="en-US" sz="1000" b="1">
                <a:solidFill>
                  <a:srgbClr val="F4A020"/>
                </a:solidFill>
                <a:latin typeface="Calibri" pitchFamily="34" charset="0"/>
                <a:ea typeface="Calibri" pitchFamily="34" charset="-122"/>
                <a:cs typeface="Calibri" pitchFamily="34" charset="-120"/>
              </a:rPr>
              <a:t>⚠  Revised →</a:t>
            </a:r>
            <a:endParaRPr lang="en-US" sz="1000"/>
          </a:p>
        </p:txBody>
      </p:sp>
      <p:sp>
        <p:nvSpPr>
          <p:cNvPr id="22" name="Text 20"/>
          <p:cNvSpPr/>
          <p:nvPr/>
        </p:nvSpPr>
        <p:spPr>
          <a:xfrm>
            <a:off x="3346704" y="3767328"/>
            <a:ext cx="2377440" cy="658368"/>
          </a:xfrm>
          <a:prstGeom prst="rect">
            <a:avLst/>
          </a:prstGeom>
          <a:noFill/>
          <a:ln/>
        </p:spPr>
        <p:txBody>
          <a:bodyPr wrap="square" rtlCol="0" anchor="ctr"/>
          <a:lstStyle/>
          <a:p>
            <a:pPr marL="0" indent="0">
              <a:buNone/>
            </a:pPr>
            <a:r>
              <a:rPr lang="en-US" sz="1000">
                <a:solidFill>
                  <a:srgbClr val="884400"/>
                </a:solidFill>
                <a:latin typeface="Calibri" pitchFamily="34" charset="0"/>
                <a:ea typeface="Calibri" pitchFamily="34" charset="-122"/>
                <a:cs typeface="Calibri" pitchFamily="34" charset="-120"/>
              </a:rPr>
              <a:t>Reduced burn risk, but some heat loss and minor exposure remained.</a:t>
            </a:r>
            <a:endParaRPr lang="en-US" sz="1000"/>
          </a:p>
        </p:txBody>
      </p:sp>
      <p:sp>
        <p:nvSpPr>
          <p:cNvPr id="23" name="Shape 21"/>
          <p:cNvSpPr/>
          <p:nvPr/>
        </p:nvSpPr>
        <p:spPr>
          <a:xfrm>
            <a:off x="6071616" y="1005840"/>
            <a:ext cx="2743200" cy="3840480"/>
          </a:xfrm>
          <a:prstGeom prst="rect">
            <a:avLst/>
          </a:prstGeom>
          <a:solidFill>
            <a:srgbClr val="FFFFFF"/>
          </a:solidFill>
          <a:ln/>
          <a:effectLst>
            <a:outerShdw blurRad="101600" dist="25400" dir="8100000" algn="bl" rotWithShape="0">
              <a:srgbClr val="000000">
                <a:alpha val="10000"/>
              </a:srgbClr>
            </a:outerShdw>
          </a:effectLst>
        </p:spPr>
        <p:txBody>
          <a:bodyPr/>
          <a:lstStyle/>
          <a:p>
            <a:endParaRPr lang="en-US"/>
          </a:p>
        </p:txBody>
      </p:sp>
      <p:sp>
        <p:nvSpPr>
          <p:cNvPr id="24" name="Shape 22"/>
          <p:cNvSpPr/>
          <p:nvPr/>
        </p:nvSpPr>
        <p:spPr>
          <a:xfrm>
            <a:off x="6071616" y="1005840"/>
            <a:ext cx="2743200" cy="73152"/>
          </a:xfrm>
          <a:prstGeom prst="rect">
            <a:avLst/>
          </a:prstGeom>
          <a:solidFill>
            <a:srgbClr val="02C39A"/>
          </a:solidFill>
          <a:ln w="12700">
            <a:solidFill>
              <a:srgbClr val="02C39A"/>
            </a:solidFill>
            <a:prstDash val="solid"/>
          </a:ln>
        </p:spPr>
        <p:txBody>
          <a:bodyPr/>
          <a:lstStyle/>
          <a:p>
            <a:endParaRPr lang="en-US"/>
          </a:p>
        </p:txBody>
      </p:sp>
      <p:sp>
        <p:nvSpPr>
          <p:cNvPr id="25" name="Shape 23"/>
          <p:cNvSpPr/>
          <p:nvPr/>
        </p:nvSpPr>
        <p:spPr>
          <a:xfrm>
            <a:off x="6208776" y="1143000"/>
            <a:ext cx="548640" cy="548640"/>
          </a:xfrm>
          <a:prstGeom prst="ellipse">
            <a:avLst/>
          </a:prstGeom>
          <a:solidFill>
            <a:srgbClr val="02C39A"/>
          </a:solidFill>
          <a:ln w="12700">
            <a:solidFill>
              <a:srgbClr val="02C39A"/>
            </a:solidFill>
            <a:prstDash val="solid"/>
          </a:ln>
        </p:spPr>
        <p:txBody>
          <a:bodyPr/>
          <a:lstStyle/>
          <a:p>
            <a:endParaRPr lang="en-US"/>
          </a:p>
        </p:txBody>
      </p:sp>
      <p:sp>
        <p:nvSpPr>
          <p:cNvPr id="26" name="Text 24"/>
          <p:cNvSpPr/>
          <p:nvPr/>
        </p:nvSpPr>
        <p:spPr>
          <a:xfrm>
            <a:off x="6208776" y="1143000"/>
            <a:ext cx="548640" cy="548640"/>
          </a:xfrm>
          <a:prstGeom prst="rect">
            <a:avLst/>
          </a:prstGeom>
          <a:noFill/>
          <a:ln/>
        </p:spPr>
        <p:txBody>
          <a:bodyPr wrap="square" rtlCol="0" anchor="ctr"/>
          <a:lstStyle/>
          <a:p>
            <a:pPr marL="0" indent="0" algn="ctr">
              <a:buNone/>
            </a:pPr>
            <a:r>
              <a:rPr lang="en-US" sz="1100" b="1">
                <a:solidFill>
                  <a:srgbClr val="FFFFFF"/>
                </a:solidFill>
                <a:latin typeface="Arial Black" pitchFamily="34" charset="0"/>
                <a:ea typeface="Arial Black" pitchFamily="34" charset="-122"/>
                <a:cs typeface="Arial Black" pitchFamily="34" charset="-120"/>
              </a:rPr>
              <a:t>v3</a:t>
            </a:r>
            <a:endParaRPr lang="en-US" sz="1100"/>
          </a:p>
        </p:txBody>
      </p:sp>
      <p:sp>
        <p:nvSpPr>
          <p:cNvPr id="27" name="Text 25"/>
          <p:cNvSpPr/>
          <p:nvPr/>
        </p:nvSpPr>
        <p:spPr>
          <a:xfrm>
            <a:off x="6208776" y="1783080"/>
            <a:ext cx="2468880" cy="457200"/>
          </a:xfrm>
          <a:prstGeom prst="rect">
            <a:avLst/>
          </a:prstGeom>
          <a:noFill/>
          <a:ln/>
        </p:spPr>
        <p:txBody>
          <a:bodyPr wrap="square" rtlCol="0" anchor="ctr"/>
          <a:lstStyle/>
          <a:p>
            <a:pPr marL="0" indent="0">
              <a:buNone/>
            </a:pPr>
            <a:r>
              <a:rPr lang="en-US" sz="1300" b="1">
                <a:solidFill>
                  <a:srgbClr val="1C1C1C"/>
                </a:solidFill>
                <a:latin typeface="Calibri" pitchFamily="34" charset="0"/>
                <a:ea typeface="Calibri" pitchFamily="34" charset="-122"/>
                <a:cs typeface="Calibri" pitchFamily="34" charset="-120"/>
              </a:rPr>
              <a:t>Enclosed Fan System</a:t>
            </a:r>
            <a:endParaRPr lang="en-US" sz="1300"/>
          </a:p>
        </p:txBody>
      </p:sp>
      <p:sp>
        <p:nvSpPr>
          <p:cNvPr id="28" name="Text 26"/>
          <p:cNvSpPr/>
          <p:nvPr/>
        </p:nvSpPr>
        <p:spPr>
          <a:xfrm>
            <a:off x="6208776" y="2286000"/>
            <a:ext cx="2468880" cy="1005840"/>
          </a:xfrm>
          <a:prstGeom prst="rect">
            <a:avLst/>
          </a:prstGeom>
          <a:noFill/>
          <a:ln/>
        </p:spPr>
        <p:txBody>
          <a:bodyPr wrap="square" lIns="91440" tIns="45720" rIns="91440" bIns="45720" rtlCol="0" anchor="ctr"/>
          <a:lstStyle/>
          <a:p>
            <a:pPr marL="0" indent="0">
              <a:buNone/>
            </a:pPr>
            <a:r>
              <a:rPr lang="en-US" sz="1100">
                <a:solidFill>
                  <a:srgbClr val="555555"/>
                </a:solidFill>
                <a:latin typeface="Calibri"/>
                <a:ea typeface="Calibri"/>
                <a:cs typeface="Calibri"/>
              </a:rPr>
              <a:t>Fully enclosed heating element. Fans circulate warm air through holes to hands. Zero direct coil exposure.</a:t>
            </a:r>
            <a:endParaRPr lang="en-US" sz="1100">
              <a:latin typeface="Calibri"/>
              <a:ea typeface="Calibri"/>
              <a:cs typeface="Calibri"/>
            </a:endParaRPr>
          </a:p>
        </p:txBody>
      </p:sp>
      <p:sp>
        <p:nvSpPr>
          <p:cNvPr id="29" name="Shape 27"/>
          <p:cNvSpPr/>
          <p:nvPr/>
        </p:nvSpPr>
        <p:spPr>
          <a:xfrm>
            <a:off x="6163056" y="3383280"/>
            <a:ext cx="2578608" cy="1097280"/>
          </a:xfrm>
          <a:prstGeom prst="rect">
            <a:avLst/>
          </a:prstGeom>
          <a:solidFill>
            <a:srgbClr val="E8FAF4"/>
          </a:solidFill>
          <a:ln w="12700">
            <a:solidFill>
              <a:srgbClr val="02C39A"/>
            </a:solidFill>
            <a:prstDash val="solid"/>
          </a:ln>
        </p:spPr>
        <p:txBody>
          <a:bodyPr/>
          <a:lstStyle/>
          <a:p>
            <a:endParaRPr lang="en-US"/>
          </a:p>
        </p:txBody>
      </p:sp>
      <p:sp>
        <p:nvSpPr>
          <p:cNvPr id="30" name="Text 28"/>
          <p:cNvSpPr/>
          <p:nvPr/>
        </p:nvSpPr>
        <p:spPr>
          <a:xfrm>
            <a:off x="6254496" y="3429000"/>
            <a:ext cx="2377440" cy="320040"/>
          </a:xfrm>
          <a:prstGeom prst="rect">
            <a:avLst/>
          </a:prstGeom>
          <a:noFill/>
          <a:ln/>
        </p:spPr>
        <p:txBody>
          <a:bodyPr wrap="square" rtlCol="0" anchor="ctr"/>
          <a:lstStyle/>
          <a:p>
            <a:pPr marL="0" indent="0">
              <a:buNone/>
            </a:pPr>
            <a:r>
              <a:rPr lang="en-US" sz="1000" b="1">
                <a:solidFill>
                  <a:srgbClr val="02C39A"/>
                </a:solidFill>
                <a:latin typeface="Calibri" pitchFamily="34" charset="0"/>
                <a:ea typeface="Calibri" pitchFamily="34" charset="-122"/>
                <a:cs typeface="Calibri" pitchFamily="34" charset="-120"/>
              </a:rPr>
              <a:t>✓  Final Design</a:t>
            </a:r>
            <a:endParaRPr lang="en-US" sz="1000"/>
          </a:p>
        </p:txBody>
      </p:sp>
      <p:sp>
        <p:nvSpPr>
          <p:cNvPr id="31" name="Text 29"/>
          <p:cNvSpPr/>
          <p:nvPr/>
        </p:nvSpPr>
        <p:spPr>
          <a:xfrm>
            <a:off x="6254496" y="3767328"/>
            <a:ext cx="2377440" cy="658368"/>
          </a:xfrm>
          <a:prstGeom prst="rect">
            <a:avLst/>
          </a:prstGeom>
          <a:noFill/>
          <a:ln/>
        </p:spPr>
        <p:txBody>
          <a:bodyPr wrap="square" rtlCol="0" anchor="ctr"/>
          <a:lstStyle/>
          <a:p>
            <a:pPr marL="0" indent="0">
              <a:buNone/>
            </a:pPr>
            <a:r>
              <a:rPr lang="en-US" sz="1000">
                <a:solidFill>
                  <a:srgbClr val="007A5E"/>
                </a:solidFill>
                <a:latin typeface="Calibri" pitchFamily="34" charset="0"/>
                <a:ea typeface="Calibri" pitchFamily="34" charset="-122"/>
                <a:cs typeface="Calibri" pitchFamily="34" charset="-120"/>
              </a:rPr>
              <a:t>Final production-ready design. Burn risk eliminated.</a:t>
            </a:r>
            <a:endParaRPr lang="en-US" sz="1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B374271-64B9-6C71-8F05-1B108E1E9A6B}"/>
              </a:ext>
            </a:extLst>
          </p:cNvPr>
          <p:cNvSpPr/>
          <p:nvPr/>
        </p:nvSpPr>
        <p:spPr>
          <a:xfrm>
            <a:off x="0" y="0"/>
            <a:ext cx="9144000" cy="868680"/>
          </a:xfrm>
          <a:prstGeom prst="rect">
            <a:avLst/>
          </a:prstGeom>
          <a:solidFill>
            <a:srgbClr val="C00000"/>
          </a:solidFill>
          <a:ln w="12700">
            <a:solidFill>
              <a:srgbClr val="0D0D0D"/>
            </a:solidFill>
            <a:prstDash val="solid"/>
          </a:ln>
        </p:spPr>
        <p:txBody>
          <a:bodyPr/>
          <a:lstStyle/>
          <a:p>
            <a:endParaRPr lang="en-US"/>
          </a:p>
        </p:txBody>
      </p:sp>
      <p:sp>
        <p:nvSpPr>
          <p:cNvPr id="3" name="Text 2">
            <a:extLst>
              <a:ext uri="{FF2B5EF4-FFF2-40B4-BE49-F238E27FC236}">
                <a16:creationId xmlns:a16="http://schemas.microsoft.com/office/drawing/2014/main" id="{B2B5CCBC-E292-1FE0-5C12-2907EA047975}"/>
              </a:ext>
            </a:extLst>
          </p:cNvPr>
          <p:cNvSpPr/>
          <p:nvPr/>
        </p:nvSpPr>
        <p:spPr>
          <a:xfrm>
            <a:off x="411480" y="0"/>
            <a:ext cx="8321040" cy="868680"/>
          </a:xfrm>
          <a:prstGeom prst="rect">
            <a:avLst/>
          </a:prstGeom>
          <a:noFill/>
          <a:ln/>
        </p:spPr>
        <p:txBody>
          <a:bodyPr wrap="square" rtlCol="0" anchor="ctr"/>
          <a:lstStyle/>
          <a:p>
            <a:pPr marL="0" indent="0">
              <a:buNone/>
            </a:pPr>
            <a:r>
              <a:rPr lang="en-US" sz="2800" b="1">
                <a:solidFill>
                  <a:srgbClr val="F5F0EB"/>
                </a:solidFill>
                <a:latin typeface="Arial Black" pitchFamily="34" charset="0"/>
                <a:ea typeface="Arial Black" pitchFamily="34" charset="-122"/>
                <a:cs typeface="Arial Black" pitchFamily="34" charset="-120"/>
              </a:rPr>
              <a:t>Prototype Custom PCB Design/Price</a:t>
            </a:r>
            <a:endParaRPr lang="en-US" sz="2800"/>
          </a:p>
        </p:txBody>
      </p:sp>
      <p:pic>
        <p:nvPicPr>
          <p:cNvPr id="5" name="Picture 4">
            <a:extLst>
              <a:ext uri="{FF2B5EF4-FFF2-40B4-BE49-F238E27FC236}">
                <a16:creationId xmlns:a16="http://schemas.microsoft.com/office/drawing/2014/main" id="{817643BD-0AB0-FF18-E231-92A4C036746B}"/>
              </a:ext>
            </a:extLst>
          </p:cNvPr>
          <p:cNvPicPr>
            <a:picLocks noChangeAspect="1"/>
          </p:cNvPicPr>
          <p:nvPr/>
        </p:nvPicPr>
        <p:blipFill>
          <a:blip r:embed="rId3"/>
          <a:stretch>
            <a:fillRect/>
          </a:stretch>
        </p:blipFill>
        <p:spPr>
          <a:xfrm>
            <a:off x="193780" y="1048802"/>
            <a:ext cx="4135781" cy="2517964"/>
          </a:xfrm>
          <a:prstGeom prst="rect">
            <a:avLst/>
          </a:prstGeom>
        </p:spPr>
      </p:pic>
      <p:sp>
        <p:nvSpPr>
          <p:cNvPr id="8" name="Shape 27">
            <a:extLst>
              <a:ext uri="{FF2B5EF4-FFF2-40B4-BE49-F238E27FC236}">
                <a16:creationId xmlns:a16="http://schemas.microsoft.com/office/drawing/2014/main" id="{EFB73264-C77D-30CC-4F0B-297273774923}"/>
              </a:ext>
            </a:extLst>
          </p:cNvPr>
          <p:cNvSpPr/>
          <p:nvPr/>
        </p:nvSpPr>
        <p:spPr>
          <a:xfrm>
            <a:off x="4596738" y="3746887"/>
            <a:ext cx="4135781" cy="1031004"/>
          </a:xfrm>
          <a:prstGeom prst="rect">
            <a:avLst/>
          </a:prstGeom>
          <a:solidFill>
            <a:srgbClr val="E8FAF4"/>
          </a:solidFill>
          <a:ln w="12700">
            <a:solidFill>
              <a:srgbClr val="02C39A"/>
            </a:solidFill>
            <a:prstDash val="solid"/>
          </a:ln>
        </p:spPr>
        <p:txBody>
          <a:bodyPr/>
          <a:lstStyle/>
          <a:p>
            <a:r>
              <a:rPr lang="en-US"/>
              <a:t>Sales price: $ 44.99</a:t>
            </a:r>
          </a:p>
          <a:p>
            <a:r>
              <a:rPr lang="en-US"/>
              <a:t>Net Profit: $24.34</a:t>
            </a:r>
          </a:p>
          <a:p>
            <a:r>
              <a:rPr lang="en-US"/>
              <a:t>Gross margin:  54.1%</a:t>
            </a:r>
          </a:p>
        </p:txBody>
      </p:sp>
      <p:sp>
        <p:nvSpPr>
          <p:cNvPr id="9" name="Shape 9">
            <a:extLst>
              <a:ext uri="{FF2B5EF4-FFF2-40B4-BE49-F238E27FC236}">
                <a16:creationId xmlns:a16="http://schemas.microsoft.com/office/drawing/2014/main" id="{B4318E59-2711-E28B-BB28-F325EBEBC5B7}"/>
              </a:ext>
            </a:extLst>
          </p:cNvPr>
          <p:cNvSpPr/>
          <p:nvPr/>
        </p:nvSpPr>
        <p:spPr>
          <a:xfrm>
            <a:off x="4596738" y="1048801"/>
            <a:ext cx="4135781" cy="2517965"/>
          </a:xfrm>
          <a:prstGeom prst="rect">
            <a:avLst/>
          </a:prstGeom>
          <a:solidFill>
            <a:srgbClr val="FFF5EE"/>
          </a:solidFill>
          <a:ln w="12700">
            <a:solidFill>
              <a:srgbClr val="E84B25"/>
            </a:solidFill>
            <a:prstDash val="solid"/>
          </a:ln>
        </p:spPr>
        <p:txBody>
          <a:bodyPr/>
          <a:lstStyle/>
          <a:p>
            <a:r>
              <a:rPr lang="en-US"/>
              <a:t>Bulk Materials per unit pricing:</a:t>
            </a:r>
          </a:p>
          <a:p>
            <a:r>
              <a:rPr lang="en-US"/>
              <a:t>Heaters: $0.9</a:t>
            </a:r>
          </a:p>
          <a:p>
            <a:r>
              <a:rPr lang="en-US"/>
              <a:t>USB Cable: $0.5</a:t>
            </a:r>
          </a:p>
          <a:p>
            <a:r>
              <a:rPr lang="en-US"/>
              <a:t>Housing/stand: $0.80</a:t>
            </a:r>
          </a:p>
          <a:p>
            <a:r>
              <a:rPr lang="en-US"/>
              <a:t>Fan: $3.90</a:t>
            </a:r>
          </a:p>
          <a:p>
            <a:r>
              <a:rPr lang="en-US"/>
              <a:t>PCB: $2.80</a:t>
            </a:r>
          </a:p>
          <a:p>
            <a:r>
              <a:rPr lang="en-US"/>
              <a:t>COGS: $8.90</a:t>
            </a:r>
          </a:p>
          <a:p>
            <a:r>
              <a:rPr lang="en-US"/>
              <a:t>Fees and shipping and handling: $11.75</a:t>
            </a:r>
          </a:p>
        </p:txBody>
      </p:sp>
      <p:sp>
        <p:nvSpPr>
          <p:cNvPr id="10" name="Shape 9">
            <a:extLst>
              <a:ext uri="{FF2B5EF4-FFF2-40B4-BE49-F238E27FC236}">
                <a16:creationId xmlns:a16="http://schemas.microsoft.com/office/drawing/2014/main" id="{DD47C054-77EA-2D3B-9ED8-5FC4B9A5BEBC}"/>
              </a:ext>
            </a:extLst>
          </p:cNvPr>
          <p:cNvSpPr/>
          <p:nvPr/>
        </p:nvSpPr>
        <p:spPr>
          <a:xfrm>
            <a:off x="193780" y="3828049"/>
            <a:ext cx="4184226" cy="868680"/>
          </a:xfrm>
          <a:prstGeom prst="rect">
            <a:avLst/>
          </a:prstGeom>
          <a:solidFill>
            <a:srgbClr val="FFF5EE"/>
          </a:solidFill>
          <a:ln w="12700">
            <a:solidFill>
              <a:srgbClr val="E84B25"/>
            </a:solidFill>
            <a:prstDash val="solid"/>
          </a:ln>
        </p:spPr>
        <p:txBody>
          <a:bodyPr/>
          <a:lstStyle/>
          <a:p>
            <a:r>
              <a:rPr lang="en-US"/>
              <a:t>Cost per PCB: $4.61</a:t>
            </a:r>
          </a:p>
          <a:p>
            <a:r>
              <a:rPr lang="en-US"/>
              <a:t>Bulk purchases per PCB: $2.80</a:t>
            </a:r>
          </a:p>
          <a:p>
            <a:endParaRPr lang="en-US"/>
          </a:p>
        </p:txBody>
      </p:sp>
    </p:spTree>
    <p:extLst>
      <p:ext uri="{BB962C8B-B14F-4D97-AF65-F5344CB8AC3E}">
        <p14:creationId xmlns:p14="http://schemas.microsoft.com/office/powerpoint/2010/main" val="19642148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C00000"/>
          </a:solidFill>
          <a:ln w="12700">
            <a:solidFill>
              <a:srgbClr val="0D0D0D"/>
            </a:solidFill>
            <a:prstDash val="solid"/>
          </a:ln>
        </p:spPr>
        <p:txBody>
          <a:bodyPr/>
          <a:lstStyle/>
          <a:p>
            <a:endParaRPr lang="en-US"/>
          </a:p>
        </p:txBody>
      </p:sp>
      <p:sp>
        <p:nvSpPr>
          <p:cNvPr id="4" name="Text 2"/>
          <p:cNvSpPr/>
          <p:nvPr/>
        </p:nvSpPr>
        <p:spPr>
          <a:xfrm>
            <a:off x="411480" y="0"/>
            <a:ext cx="8321040" cy="868680"/>
          </a:xfrm>
          <a:prstGeom prst="rect">
            <a:avLst/>
          </a:prstGeom>
          <a:noFill/>
          <a:ln/>
        </p:spPr>
        <p:txBody>
          <a:bodyPr wrap="square" rtlCol="0" anchor="ctr"/>
          <a:lstStyle/>
          <a:p>
            <a:pPr marL="0" indent="0">
              <a:buNone/>
            </a:pPr>
            <a:r>
              <a:rPr lang="en-US" sz="2800" b="1">
                <a:solidFill>
                  <a:srgbClr val="F5F0EB"/>
                </a:solidFill>
                <a:latin typeface="Arial Black" pitchFamily="34" charset="0"/>
                <a:ea typeface="Arial Black" pitchFamily="34" charset="-122"/>
                <a:cs typeface="Arial Black" pitchFamily="34" charset="-120"/>
              </a:rPr>
              <a:t>Market Opportunity</a:t>
            </a:r>
            <a:endParaRPr lang="en-US" sz="2800"/>
          </a:p>
        </p:txBody>
      </p:sp>
      <p:sp>
        <p:nvSpPr>
          <p:cNvPr id="5" name="Shape 3"/>
          <p:cNvSpPr/>
          <p:nvPr/>
        </p:nvSpPr>
        <p:spPr>
          <a:xfrm>
            <a:off x="731520" y="1084438"/>
            <a:ext cx="4663440" cy="3599808"/>
          </a:xfrm>
          <a:prstGeom prst="ellipse">
            <a:avLst/>
          </a:prstGeom>
          <a:solidFill>
            <a:srgbClr val="3A2015"/>
          </a:solidFill>
          <a:ln w="25400">
            <a:solidFill>
              <a:srgbClr val="F4A020"/>
            </a:solidFill>
            <a:prstDash val="solid"/>
          </a:ln>
        </p:spPr>
        <p:txBody>
          <a:bodyPr/>
          <a:lstStyle/>
          <a:p>
            <a:endParaRPr lang="en-US"/>
          </a:p>
        </p:txBody>
      </p:sp>
      <p:sp>
        <p:nvSpPr>
          <p:cNvPr id="6" name="Shape 4"/>
          <p:cNvSpPr/>
          <p:nvPr/>
        </p:nvSpPr>
        <p:spPr>
          <a:xfrm>
            <a:off x="1508760" y="1691640"/>
            <a:ext cx="3108960" cy="2468880"/>
          </a:xfrm>
          <a:prstGeom prst="ellipse">
            <a:avLst/>
          </a:prstGeom>
          <a:solidFill>
            <a:srgbClr val="2A1508"/>
          </a:solidFill>
          <a:ln w="25400">
            <a:solidFill>
              <a:srgbClr val="E84B25"/>
            </a:solidFill>
            <a:prstDash val="solid"/>
          </a:ln>
        </p:spPr>
        <p:txBody>
          <a:bodyPr/>
          <a:lstStyle/>
          <a:p>
            <a:endParaRPr lang="en-US"/>
          </a:p>
        </p:txBody>
      </p:sp>
      <p:sp>
        <p:nvSpPr>
          <p:cNvPr id="7" name="Shape 5"/>
          <p:cNvSpPr/>
          <p:nvPr/>
        </p:nvSpPr>
        <p:spPr>
          <a:xfrm>
            <a:off x="2286000" y="2331720"/>
            <a:ext cx="1554480" cy="1188720"/>
          </a:xfrm>
          <a:prstGeom prst="ellipse">
            <a:avLst/>
          </a:prstGeom>
          <a:solidFill>
            <a:srgbClr val="E84B25"/>
          </a:solidFill>
          <a:ln w="12700">
            <a:solidFill>
              <a:srgbClr val="FF7755"/>
            </a:solidFill>
            <a:prstDash val="solid"/>
          </a:ln>
        </p:spPr>
        <p:txBody>
          <a:bodyPr/>
          <a:lstStyle/>
          <a:p>
            <a:endParaRPr lang="en-US"/>
          </a:p>
        </p:txBody>
      </p:sp>
      <p:sp>
        <p:nvSpPr>
          <p:cNvPr id="8" name="Text 6"/>
          <p:cNvSpPr/>
          <p:nvPr/>
        </p:nvSpPr>
        <p:spPr>
          <a:xfrm>
            <a:off x="2313432" y="2377440"/>
            <a:ext cx="1499616" cy="1097280"/>
          </a:xfrm>
          <a:prstGeom prst="rect">
            <a:avLst/>
          </a:prstGeom>
          <a:noFill/>
          <a:ln/>
        </p:spPr>
        <p:txBody>
          <a:bodyPr wrap="square" rtlCol="0" anchor="ctr"/>
          <a:lstStyle/>
          <a:p>
            <a:pPr marL="0" indent="0" algn="ctr">
              <a:buNone/>
            </a:pPr>
            <a:r>
              <a:rPr lang="en-US" sz="850" b="1">
                <a:solidFill>
                  <a:srgbClr val="FFFFFF"/>
                </a:solidFill>
                <a:latin typeface="Calibri" pitchFamily="34" charset="0"/>
                <a:ea typeface="Calibri" pitchFamily="34" charset="-122"/>
                <a:cs typeface="Calibri" pitchFamily="34" charset="-120"/>
              </a:rPr>
              <a:t>Raynaud's</a:t>
            </a:r>
            <a:endParaRPr lang="en-US" sz="850"/>
          </a:p>
          <a:p>
            <a:pPr marL="0" indent="0" algn="ctr">
              <a:buNone/>
            </a:pPr>
            <a:r>
              <a:rPr lang="en-US" sz="850" b="1">
                <a:solidFill>
                  <a:srgbClr val="FFFFFF"/>
                </a:solidFill>
                <a:latin typeface="Calibri" pitchFamily="34" charset="0"/>
                <a:ea typeface="Calibri" pitchFamily="34" charset="-122"/>
                <a:cs typeface="Calibri" pitchFamily="34" charset="-120"/>
              </a:rPr>
              <a:t>Disease</a:t>
            </a:r>
            <a:endParaRPr lang="en-US" sz="850"/>
          </a:p>
        </p:txBody>
      </p:sp>
      <p:sp>
        <p:nvSpPr>
          <p:cNvPr id="9" name="Text 7"/>
          <p:cNvSpPr/>
          <p:nvPr/>
        </p:nvSpPr>
        <p:spPr>
          <a:xfrm>
            <a:off x="2285101" y="1715785"/>
            <a:ext cx="1508760" cy="731520"/>
          </a:xfrm>
          <a:prstGeom prst="rect">
            <a:avLst/>
          </a:prstGeom>
          <a:noFill/>
          <a:ln/>
        </p:spPr>
        <p:txBody>
          <a:bodyPr wrap="square" rtlCol="0" anchor="ctr"/>
          <a:lstStyle/>
          <a:p>
            <a:pPr marL="0" indent="0" algn="r">
              <a:buNone/>
            </a:pPr>
            <a:r>
              <a:rPr lang="en-US" sz="1000" b="1">
                <a:solidFill>
                  <a:srgbClr val="E84B25"/>
                </a:solidFill>
                <a:latin typeface="Calibri" pitchFamily="34" charset="0"/>
                <a:ea typeface="Calibri" pitchFamily="34" charset="-122"/>
                <a:cs typeface="Calibri" pitchFamily="34" charset="-120"/>
              </a:rPr>
              <a:t>Raynaud's Phenomenon</a:t>
            </a:r>
            <a:endParaRPr lang="en-US" sz="1000"/>
          </a:p>
        </p:txBody>
      </p:sp>
      <p:sp>
        <p:nvSpPr>
          <p:cNvPr id="10" name="Text 8"/>
          <p:cNvSpPr/>
          <p:nvPr/>
        </p:nvSpPr>
        <p:spPr>
          <a:xfrm>
            <a:off x="2059583" y="1144927"/>
            <a:ext cx="1600200" cy="685800"/>
          </a:xfrm>
          <a:prstGeom prst="rect">
            <a:avLst/>
          </a:prstGeom>
          <a:noFill/>
          <a:ln/>
        </p:spPr>
        <p:txBody>
          <a:bodyPr wrap="square" rtlCol="0" anchor="ctr"/>
          <a:lstStyle/>
          <a:p>
            <a:pPr marL="0" indent="0" algn="r">
              <a:buNone/>
            </a:pPr>
            <a:r>
              <a:rPr lang="en-US" sz="1000" b="1">
                <a:solidFill>
                  <a:srgbClr val="F4A020"/>
                </a:solidFill>
                <a:latin typeface="Calibri" pitchFamily="34" charset="0"/>
                <a:ea typeface="Calibri" pitchFamily="34" charset="-122"/>
                <a:cs typeface="Calibri" pitchFamily="34" charset="-120"/>
              </a:rPr>
              <a:t>Cold Hands</a:t>
            </a:r>
            <a:endParaRPr lang="en-US" sz="1000"/>
          </a:p>
          <a:p>
            <a:pPr marL="0" indent="0" algn="r">
              <a:buNone/>
            </a:pPr>
            <a:r>
              <a:rPr lang="en-US" sz="1000" b="1">
                <a:solidFill>
                  <a:srgbClr val="F4A020"/>
                </a:solidFill>
                <a:latin typeface="Calibri" pitchFamily="34" charset="0"/>
                <a:ea typeface="Calibri" pitchFamily="34" charset="-122"/>
                <a:cs typeface="Calibri" pitchFamily="34" charset="-120"/>
              </a:rPr>
              <a:t>(General Population)</a:t>
            </a:r>
            <a:endParaRPr lang="en-US" sz="1000"/>
          </a:p>
        </p:txBody>
      </p:sp>
      <p:sp>
        <p:nvSpPr>
          <p:cNvPr id="11" name="Shape 9"/>
          <p:cNvSpPr/>
          <p:nvPr/>
        </p:nvSpPr>
        <p:spPr>
          <a:xfrm>
            <a:off x="5989320" y="1024128"/>
            <a:ext cx="2880360" cy="1115568"/>
          </a:xfrm>
          <a:prstGeom prst="rect">
            <a:avLst/>
          </a:prstGeom>
          <a:solidFill>
            <a:srgbClr val="1E1E1E"/>
          </a:solidFill>
          <a:ln/>
          <a:effectLst>
            <a:outerShdw blurRad="76200" dist="25400" dir="8100000" algn="bl" rotWithShape="0">
              <a:srgbClr val="000000">
                <a:alpha val="35000"/>
              </a:srgbClr>
            </a:outerShdw>
          </a:effectLst>
        </p:spPr>
        <p:txBody>
          <a:bodyPr/>
          <a:lstStyle/>
          <a:p>
            <a:endParaRPr lang="en-US"/>
          </a:p>
        </p:txBody>
      </p:sp>
      <p:sp>
        <p:nvSpPr>
          <p:cNvPr id="12" name="Shape 10"/>
          <p:cNvSpPr/>
          <p:nvPr/>
        </p:nvSpPr>
        <p:spPr>
          <a:xfrm>
            <a:off x="5989320" y="1024128"/>
            <a:ext cx="64008" cy="1115568"/>
          </a:xfrm>
          <a:prstGeom prst="rect">
            <a:avLst/>
          </a:prstGeom>
          <a:solidFill>
            <a:srgbClr val="F4A020"/>
          </a:solidFill>
          <a:ln w="12700">
            <a:solidFill>
              <a:srgbClr val="F4A020"/>
            </a:solidFill>
            <a:prstDash val="solid"/>
          </a:ln>
        </p:spPr>
        <p:txBody>
          <a:bodyPr/>
          <a:lstStyle/>
          <a:p>
            <a:endParaRPr lang="en-US"/>
          </a:p>
        </p:txBody>
      </p:sp>
      <p:sp>
        <p:nvSpPr>
          <p:cNvPr id="13" name="Text 11"/>
          <p:cNvSpPr/>
          <p:nvPr/>
        </p:nvSpPr>
        <p:spPr>
          <a:xfrm>
            <a:off x="6144768" y="1069848"/>
            <a:ext cx="2651760" cy="228600"/>
          </a:xfrm>
          <a:prstGeom prst="rect">
            <a:avLst/>
          </a:prstGeom>
          <a:noFill/>
          <a:ln/>
        </p:spPr>
        <p:txBody>
          <a:bodyPr wrap="square" rtlCol="0" anchor="ctr"/>
          <a:lstStyle/>
          <a:p>
            <a:pPr marL="0" indent="0">
              <a:buNone/>
            </a:pPr>
            <a:r>
              <a:rPr lang="en-US" sz="800" b="1" kern="0" spc="100">
                <a:solidFill>
                  <a:srgbClr val="F4A020"/>
                </a:solidFill>
                <a:latin typeface="Calibri" pitchFamily="34" charset="0"/>
                <a:ea typeface="Calibri" pitchFamily="34" charset="-122"/>
                <a:cs typeface="Calibri" pitchFamily="34" charset="-120"/>
              </a:rPr>
              <a:t>Outer Ring — Broadest Market</a:t>
            </a:r>
            <a:endParaRPr lang="en-US" sz="800"/>
          </a:p>
        </p:txBody>
      </p:sp>
      <p:sp>
        <p:nvSpPr>
          <p:cNvPr id="14" name="Text 12"/>
          <p:cNvSpPr/>
          <p:nvPr/>
        </p:nvSpPr>
        <p:spPr>
          <a:xfrm>
            <a:off x="6144768" y="1298448"/>
            <a:ext cx="2651760" cy="274320"/>
          </a:xfrm>
          <a:prstGeom prst="rect">
            <a:avLst/>
          </a:prstGeom>
          <a:noFill/>
          <a:ln/>
        </p:spPr>
        <p:txBody>
          <a:bodyPr wrap="square" rtlCol="0" anchor="ctr"/>
          <a:lstStyle/>
          <a:p>
            <a:pPr marL="0" indent="0">
              <a:buNone/>
            </a:pPr>
            <a:r>
              <a:rPr lang="en-US" sz="1150" b="1">
                <a:solidFill>
                  <a:srgbClr val="F5F0EB"/>
                </a:solidFill>
                <a:latin typeface="Calibri" pitchFamily="34" charset="0"/>
                <a:ea typeface="Calibri" pitchFamily="34" charset="-122"/>
                <a:cs typeface="Calibri" pitchFamily="34" charset="-120"/>
              </a:rPr>
              <a:t>People with Cold Hands</a:t>
            </a:r>
            <a:endParaRPr lang="en-US" sz="1150"/>
          </a:p>
        </p:txBody>
      </p:sp>
      <p:sp>
        <p:nvSpPr>
          <p:cNvPr id="15" name="Text 13"/>
          <p:cNvSpPr/>
          <p:nvPr/>
        </p:nvSpPr>
        <p:spPr>
          <a:xfrm>
            <a:off x="6144768" y="1572768"/>
            <a:ext cx="2651760" cy="512064"/>
          </a:xfrm>
          <a:prstGeom prst="rect">
            <a:avLst/>
          </a:prstGeom>
          <a:noFill/>
          <a:ln/>
        </p:spPr>
        <p:txBody>
          <a:bodyPr wrap="square" rtlCol="0" anchor="ctr"/>
          <a:lstStyle/>
          <a:p>
            <a:pPr marL="0" indent="0">
              <a:buNone/>
            </a:pPr>
            <a:r>
              <a:rPr lang="en-US" sz="900">
                <a:solidFill>
                  <a:srgbClr val="9A8A7A"/>
                </a:solidFill>
                <a:latin typeface="Calibri" pitchFamily="34" charset="0"/>
                <a:ea typeface="Calibri" pitchFamily="34" charset="-122"/>
                <a:cs typeface="Calibri" pitchFamily="34" charset="-120"/>
              </a:rPr>
              <a:t>Office workers, students, remote workers, and anyone in cold environments. Inactivity and sitting reduce circulation even in moderate cold.</a:t>
            </a:r>
            <a:endParaRPr lang="en-US" sz="900"/>
          </a:p>
        </p:txBody>
      </p:sp>
      <p:sp>
        <p:nvSpPr>
          <p:cNvPr id="16" name="Shape 14"/>
          <p:cNvSpPr/>
          <p:nvPr/>
        </p:nvSpPr>
        <p:spPr>
          <a:xfrm>
            <a:off x="5989320" y="2231136"/>
            <a:ext cx="2880360" cy="1115568"/>
          </a:xfrm>
          <a:prstGeom prst="rect">
            <a:avLst/>
          </a:prstGeom>
          <a:solidFill>
            <a:srgbClr val="1E1E1E"/>
          </a:solidFill>
          <a:ln/>
          <a:effectLst>
            <a:outerShdw blurRad="76200" dist="25400" dir="8100000" algn="bl" rotWithShape="0">
              <a:srgbClr val="000000">
                <a:alpha val="35000"/>
              </a:srgbClr>
            </a:outerShdw>
          </a:effectLst>
        </p:spPr>
        <p:txBody>
          <a:bodyPr/>
          <a:lstStyle/>
          <a:p>
            <a:endParaRPr lang="en-US"/>
          </a:p>
        </p:txBody>
      </p:sp>
      <p:sp>
        <p:nvSpPr>
          <p:cNvPr id="17" name="Shape 15"/>
          <p:cNvSpPr/>
          <p:nvPr/>
        </p:nvSpPr>
        <p:spPr>
          <a:xfrm>
            <a:off x="5989320" y="2231136"/>
            <a:ext cx="64008" cy="1115568"/>
          </a:xfrm>
          <a:prstGeom prst="rect">
            <a:avLst/>
          </a:prstGeom>
          <a:solidFill>
            <a:srgbClr val="E84B25"/>
          </a:solidFill>
          <a:ln w="12700">
            <a:solidFill>
              <a:srgbClr val="E84B25"/>
            </a:solidFill>
            <a:prstDash val="solid"/>
          </a:ln>
        </p:spPr>
        <p:txBody>
          <a:bodyPr/>
          <a:lstStyle/>
          <a:p>
            <a:endParaRPr lang="en-US"/>
          </a:p>
        </p:txBody>
      </p:sp>
      <p:sp>
        <p:nvSpPr>
          <p:cNvPr id="18" name="Text 16"/>
          <p:cNvSpPr/>
          <p:nvPr/>
        </p:nvSpPr>
        <p:spPr>
          <a:xfrm>
            <a:off x="6144768" y="2276856"/>
            <a:ext cx="2651760" cy="228600"/>
          </a:xfrm>
          <a:prstGeom prst="rect">
            <a:avLst/>
          </a:prstGeom>
          <a:noFill/>
          <a:ln/>
        </p:spPr>
        <p:txBody>
          <a:bodyPr wrap="square" rtlCol="0" anchor="ctr"/>
          <a:lstStyle/>
          <a:p>
            <a:pPr marL="0" indent="0">
              <a:buNone/>
            </a:pPr>
            <a:r>
              <a:rPr lang="en-US" sz="800" b="1" kern="0" spc="100">
                <a:solidFill>
                  <a:srgbClr val="E84B25"/>
                </a:solidFill>
                <a:latin typeface="Calibri" pitchFamily="34" charset="0"/>
                <a:ea typeface="Calibri" pitchFamily="34" charset="-122"/>
                <a:cs typeface="Calibri" pitchFamily="34" charset="-120"/>
              </a:rPr>
              <a:t>Middle Ring — Symptomatic</a:t>
            </a:r>
            <a:endParaRPr lang="en-US" sz="800"/>
          </a:p>
        </p:txBody>
      </p:sp>
      <p:sp>
        <p:nvSpPr>
          <p:cNvPr id="19" name="Text 17"/>
          <p:cNvSpPr/>
          <p:nvPr/>
        </p:nvSpPr>
        <p:spPr>
          <a:xfrm>
            <a:off x="6144768" y="2505456"/>
            <a:ext cx="2651760" cy="274320"/>
          </a:xfrm>
          <a:prstGeom prst="rect">
            <a:avLst/>
          </a:prstGeom>
          <a:noFill/>
          <a:ln/>
        </p:spPr>
        <p:txBody>
          <a:bodyPr wrap="square" rtlCol="0" anchor="ctr"/>
          <a:lstStyle/>
          <a:p>
            <a:pPr marL="0" indent="0">
              <a:buNone/>
            </a:pPr>
            <a:r>
              <a:rPr lang="en-US" sz="1150" b="1">
                <a:solidFill>
                  <a:srgbClr val="F5F0EB"/>
                </a:solidFill>
                <a:latin typeface="Calibri" pitchFamily="34" charset="0"/>
                <a:ea typeface="Calibri" pitchFamily="34" charset="-122"/>
                <a:cs typeface="Calibri" pitchFamily="34" charset="-120"/>
              </a:rPr>
              <a:t>Raynaud's Phenomenon</a:t>
            </a:r>
            <a:endParaRPr lang="en-US" sz="1150"/>
          </a:p>
        </p:txBody>
      </p:sp>
      <p:sp>
        <p:nvSpPr>
          <p:cNvPr id="20" name="Text 18"/>
          <p:cNvSpPr/>
          <p:nvPr/>
        </p:nvSpPr>
        <p:spPr>
          <a:xfrm>
            <a:off x="6144768" y="2779776"/>
            <a:ext cx="2651760" cy="512064"/>
          </a:xfrm>
          <a:prstGeom prst="rect">
            <a:avLst/>
          </a:prstGeom>
          <a:noFill/>
          <a:ln/>
        </p:spPr>
        <p:txBody>
          <a:bodyPr wrap="square" rtlCol="0" anchor="ctr"/>
          <a:lstStyle/>
          <a:p>
            <a:pPr marL="0" indent="0">
              <a:buNone/>
            </a:pPr>
            <a:r>
              <a:rPr lang="en-US" sz="900">
                <a:solidFill>
                  <a:srgbClr val="9A8A7A"/>
                </a:solidFill>
                <a:latin typeface="Calibri" pitchFamily="34" charset="0"/>
                <a:ea typeface="Calibri" pitchFamily="34" charset="-122"/>
                <a:cs typeface="Calibri" pitchFamily="34" charset="-120"/>
              </a:rPr>
              <a:t>Individuals experiencing classic symptoms — cold, numb, or discolored fingers — without a formal diagnosis. Often unaware of their condition.</a:t>
            </a:r>
            <a:endParaRPr lang="en-US" sz="900"/>
          </a:p>
        </p:txBody>
      </p:sp>
      <p:sp>
        <p:nvSpPr>
          <p:cNvPr id="21" name="Shape 19"/>
          <p:cNvSpPr/>
          <p:nvPr/>
        </p:nvSpPr>
        <p:spPr>
          <a:xfrm>
            <a:off x="5989320" y="3438144"/>
            <a:ext cx="2880360" cy="1115568"/>
          </a:xfrm>
          <a:prstGeom prst="rect">
            <a:avLst/>
          </a:prstGeom>
          <a:solidFill>
            <a:srgbClr val="1E1E1E"/>
          </a:solidFill>
          <a:ln/>
          <a:effectLst>
            <a:outerShdw blurRad="76200" dist="25400" dir="8100000" algn="bl" rotWithShape="0">
              <a:srgbClr val="000000">
                <a:alpha val="35000"/>
              </a:srgbClr>
            </a:outerShdw>
          </a:effectLst>
        </p:spPr>
        <p:txBody>
          <a:bodyPr/>
          <a:lstStyle/>
          <a:p>
            <a:endParaRPr lang="en-US"/>
          </a:p>
        </p:txBody>
      </p:sp>
      <p:sp>
        <p:nvSpPr>
          <p:cNvPr id="22" name="Shape 20"/>
          <p:cNvSpPr/>
          <p:nvPr/>
        </p:nvSpPr>
        <p:spPr>
          <a:xfrm>
            <a:off x="5989320" y="3438144"/>
            <a:ext cx="64008" cy="1115568"/>
          </a:xfrm>
          <a:prstGeom prst="rect">
            <a:avLst/>
          </a:prstGeom>
          <a:solidFill>
            <a:srgbClr val="FF6644"/>
          </a:solidFill>
          <a:ln w="12700">
            <a:solidFill>
              <a:srgbClr val="FF6644"/>
            </a:solidFill>
            <a:prstDash val="solid"/>
          </a:ln>
        </p:spPr>
        <p:txBody>
          <a:bodyPr/>
          <a:lstStyle/>
          <a:p>
            <a:endParaRPr lang="en-US"/>
          </a:p>
        </p:txBody>
      </p:sp>
      <p:sp>
        <p:nvSpPr>
          <p:cNvPr id="23" name="Text 21"/>
          <p:cNvSpPr/>
          <p:nvPr/>
        </p:nvSpPr>
        <p:spPr>
          <a:xfrm>
            <a:off x="6144768" y="3483864"/>
            <a:ext cx="2651760" cy="228600"/>
          </a:xfrm>
          <a:prstGeom prst="rect">
            <a:avLst/>
          </a:prstGeom>
          <a:noFill/>
          <a:ln/>
        </p:spPr>
        <p:txBody>
          <a:bodyPr wrap="square" rtlCol="0" anchor="ctr"/>
          <a:lstStyle/>
          <a:p>
            <a:pPr marL="0" indent="0">
              <a:buNone/>
            </a:pPr>
            <a:r>
              <a:rPr lang="en-US" sz="800" b="1" kern="0" spc="100">
                <a:solidFill>
                  <a:srgbClr val="FF6644"/>
                </a:solidFill>
                <a:latin typeface="Calibri" pitchFamily="34" charset="0"/>
                <a:ea typeface="Calibri" pitchFamily="34" charset="-122"/>
                <a:cs typeface="Calibri" pitchFamily="34" charset="-120"/>
              </a:rPr>
              <a:t>Inner Ring — Medical Core</a:t>
            </a:r>
            <a:endParaRPr lang="en-US" sz="800"/>
          </a:p>
        </p:txBody>
      </p:sp>
      <p:sp>
        <p:nvSpPr>
          <p:cNvPr id="24" name="Text 22"/>
          <p:cNvSpPr/>
          <p:nvPr/>
        </p:nvSpPr>
        <p:spPr>
          <a:xfrm>
            <a:off x="6144768" y="3712464"/>
            <a:ext cx="2651760" cy="274320"/>
          </a:xfrm>
          <a:prstGeom prst="rect">
            <a:avLst/>
          </a:prstGeom>
          <a:noFill/>
          <a:ln/>
        </p:spPr>
        <p:txBody>
          <a:bodyPr wrap="square" rtlCol="0" anchor="ctr"/>
          <a:lstStyle/>
          <a:p>
            <a:pPr marL="0" indent="0">
              <a:buNone/>
            </a:pPr>
            <a:r>
              <a:rPr lang="en-US" sz="1150" b="1">
                <a:solidFill>
                  <a:srgbClr val="F5F0EB"/>
                </a:solidFill>
                <a:latin typeface="Calibri" pitchFamily="34" charset="0"/>
                <a:ea typeface="Calibri" pitchFamily="34" charset="-122"/>
                <a:cs typeface="Calibri" pitchFamily="34" charset="-120"/>
              </a:rPr>
              <a:t>Raynaud's Disease</a:t>
            </a:r>
            <a:endParaRPr lang="en-US" sz="1150"/>
          </a:p>
        </p:txBody>
      </p:sp>
      <p:sp>
        <p:nvSpPr>
          <p:cNvPr id="25" name="Text 23"/>
          <p:cNvSpPr/>
          <p:nvPr/>
        </p:nvSpPr>
        <p:spPr>
          <a:xfrm>
            <a:off x="6144768" y="3986784"/>
            <a:ext cx="2651760" cy="512064"/>
          </a:xfrm>
          <a:prstGeom prst="rect">
            <a:avLst/>
          </a:prstGeom>
          <a:noFill/>
          <a:ln/>
        </p:spPr>
        <p:txBody>
          <a:bodyPr wrap="square" rtlCol="0" anchor="ctr"/>
          <a:lstStyle/>
          <a:p>
            <a:pPr marL="0" indent="0">
              <a:buNone/>
            </a:pPr>
            <a:r>
              <a:rPr lang="en-US" sz="900">
                <a:solidFill>
                  <a:srgbClr val="9A8A7A"/>
                </a:solidFill>
                <a:latin typeface="Calibri" pitchFamily="34" charset="0"/>
                <a:ea typeface="Calibri" pitchFamily="34" charset="-122"/>
                <a:cs typeface="Calibri" pitchFamily="34" charset="-120"/>
              </a:rPr>
              <a:t>Diagnosable autoimmune disorder. Thin blood vessels in fingers over-react to cold or stress, severely restricting blood flow. Causes pain, numbness, and discoloration.</a:t>
            </a:r>
            <a:endParaRPr lang="en-US" sz="900"/>
          </a:p>
        </p:txBody>
      </p:sp>
      <p:sp>
        <p:nvSpPr>
          <p:cNvPr id="26" name="Shape 24"/>
          <p:cNvSpPr/>
          <p:nvPr/>
        </p:nvSpPr>
        <p:spPr>
          <a:xfrm>
            <a:off x="0" y="4736592"/>
            <a:ext cx="9144000" cy="406908"/>
          </a:xfrm>
          <a:prstGeom prst="rect">
            <a:avLst/>
          </a:prstGeom>
          <a:solidFill>
            <a:srgbClr val="1E1E1E"/>
          </a:solidFill>
          <a:ln w="12700">
            <a:solidFill>
              <a:srgbClr val="1E1E1E"/>
            </a:solidFill>
            <a:prstDash val="solid"/>
          </a:ln>
        </p:spPr>
        <p:txBody>
          <a:bodyPr/>
          <a:lstStyle/>
          <a:p>
            <a:endParaRPr lang="en-US"/>
          </a:p>
        </p:txBody>
      </p:sp>
      <p:sp>
        <p:nvSpPr>
          <p:cNvPr id="27" name="Text 25"/>
          <p:cNvSpPr/>
          <p:nvPr/>
        </p:nvSpPr>
        <p:spPr>
          <a:xfrm>
            <a:off x="274320" y="4736592"/>
            <a:ext cx="8595360" cy="406908"/>
          </a:xfrm>
          <a:prstGeom prst="rect">
            <a:avLst/>
          </a:prstGeom>
          <a:noFill/>
          <a:ln/>
        </p:spPr>
        <p:txBody>
          <a:bodyPr wrap="square" rtlCol="0" anchor="ctr"/>
          <a:lstStyle/>
          <a:p>
            <a:pPr marL="0" indent="0" algn="ctr">
              <a:buNone/>
            </a:pPr>
            <a:r>
              <a:rPr lang="en-US" sz="1100" i="1">
                <a:solidFill>
                  <a:srgbClr val="9A8A7A"/>
                </a:solidFill>
                <a:latin typeface="Calibri" pitchFamily="34" charset="0"/>
                <a:ea typeface="Calibri" pitchFamily="34" charset="-122"/>
                <a:cs typeface="Calibri" pitchFamily="34" charset="-120"/>
              </a:rPr>
              <a:t>Cold environments  ·  Poor circulation  ·  Medical &amp; consumer crossover  →  Large, reachable, underserved market</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7F3EE"/>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C00000"/>
          </a:solidFill>
          <a:ln w="12700">
            <a:solidFill>
              <a:srgbClr val="0D0D0D"/>
            </a:solidFill>
            <a:prstDash val="solid"/>
          </a:ln>
        </p:spPr>
        <p:txBody>
          <a:bodyPr/>
          <a:lstStyle/>
          <a:p>
            <a:endParaRPr lang="en-US"/>
          </a:p>
        </p:txBody>
      </p:sp>
      <p:sp>
        <p:nvSpPr>
          <p:cNvPr id="4" name="Text 2"/>
          <p:cNvSpPr/>
          <p:nvPr/>
        </p:nvSpPr>
        <p:spPr>
          <a:xfrm>
            <a:off x="411480" y="0"/>
            <a:ext cx="8321040" cy="868680"/>
          </a:xfrm>
          <a:prstGeom prst="rect">
            <a:avLst/>
          </a:prstGeom>
          <a:noFill/>
          <a:ln/>
        </p:spPr>
        <p:txBody>
          <a:bodyPr wrap="square" rtlCol="0" anchor="ctr"/>
          <a:lstStyle/>
          <a:p>
            <a:pPr marL="0" indent="0">
              <a:buNone/>
            </a:pPr>
            <a:r>
              <a:rPr lang="en-US" sz="2800" b="1">
                <a:solidFill>
                  <a:srgbClr val="F5F0EB"/>
                </a:solidFill>
                <a:latin typeface="Arial Black" pitchFamily="34" charset="0"/>
                <a:ea typeface="Arial Black" pitchFamily="34" charset="-122"/>
                <a:cs typeface="Arial Black" pitchFamily="34" charset="-120"/>
              </a:rPr>
              <a:t>Business Model</a:t>
            </a:r>
            <a:endParaRPr lang="en-US" sz="2800"/>
          </a:p>
        </p:txBody>
      </p:sp>
      <p:pic>
        <p:nvPicPr>
          <p:cNvPr id="5" name="Image 0" descr="preencoded.png"/>
          <p:cNvPicPr>
            <a:picLocks noChangeAspect="1"/>
          </p:cNvPicPr>
          <p:nvPr/>
        </p:nvPicPr>
        <p:blipFill>
          <a:blip r:embed="rId3"/>
          <a:stretch>
            <a:fillRect/>
          </a:stretch>
        </p:blipFill>
        <p:spPr>
          <a:xfrm>
            <a:off x="365760" y="1005840"/>
            <a:ext cx="411480" cy="411480"/>
          </a:xfrm>
          <a:prstGeom prst="rect">
            <a:avLst/>
          </a:prstGeom>
        </p:spPr>
      </p:pic>
      <p:sp>
        <p:nvSpPr>
          <p:cNvPr id="6" name="Text 3"/>
          <p:cNvSpPr/>
          <p:nvPr/>
        </p:nvSpPr>
        <p:spPr>
          <a:xfrm>
            <a:off x="914400" y="1005840"/>
            <a:ext cx="2743200" cy="411480"/>
          </a:xfrm>
          <a:prstGeom prst="rect">
            <a:avLst/>
          </a:prstGeom>
          <a:noFill/>
          <a:ln/>
        </p:spPr>
        <p:txBody>
          <a:bodyPr wrap="square" rtlCol="0" anchor="ctr"/>
          <a:lstStyle/>
          <a:p>
            <a:pPr marL="0" indent="0">
              <a:buNone/>
            </a:pPr>
            <a:r>
              <a:rPr lang="en-US" sz="1500" b="1">
                <a:solidFill>
                  <a:srgbClr val="1C1C1C"/>
                </a:solidFill>
                <a:latin typeface="Arial Black" pitchFamily="34" charset="0"/>
                <a:ea typeface="Arial Black" pitchFamily="34" charset="-122"/>
                <a:cs typeface="Arial Black" pitchFamily="34" charset="-120"/>
              </a:rPr>
              <a:t>Cost Structure</a:t>
            </a:r>
            <a:endParaRPr lang="en-US" sz="1500"/>
          </a:p>
        </p:txBody>
      </p:sp>
      <p:sp>
        <p:nvSpPr>
          <p:cNvPr id="7" name="Text 4"/>
          <p:cNvSpPr/>
          <p:nvPr/>
        </p:nvSpPr>
        <p:spPr>
          <a:xfrm>
            <a:off x="457200" y="1481328"/>
            <a:ext cx="2011680" cy="320040"/>
          </a:xfrm>
          <a:prstGeom prst="rect">
            <a:avLst/>
          </a:prstGeom>
          <a:noFill/>
          <a:ln/>
        </p:spPr>
        <p:txBody>
          <a:bodyPr wrap="square" rtlCol="0" anchor="ctr"/>
          <a:lstStyle/>
          <a:p>
            <a:pPr marL="0" indent="0">
              <a:buNone/>
            </a:pPr>
            <a:r>
              <a:rPr lang="en-US" sz="1100" b="1">
                <a:solidFill>
                  <a:srgbClr val="E84B25"/>
                </a:solidFill>
                <a:latin typeface="Calibri" pitchFamily="34" charset="0"/>
                <a:ea typeface="Calibri" pitchFamily="34" charset="-122"/>
                <a:cs typeface="Calibri" pitchFamily="34" charset="-120"/>
              </a:rPr>
              <a:t>Manufacturing:</a:t>
            </a:r>
            <a:endParaRPr lang="en-US" sz="1100"/>
          </a:p>
        </p:txBody>
      </p:sp>
      <p:sp>
        <p:nvSpPr>
          <p:cNvPr id="8" name="Text 5"/>
          <p:cNvSpPr/>
          <p:nvPr/>
        </p:nvSpPr>
        <p:spPr>
          <a:xfrm>
            <a:off x="2514600" y="1481328"/>
            <a:ext cx="6400800" cy="320040"/>
          </a:xfrm>
          <a:prstGeom prst="rect">
            <a:avLst/>
          </a:prstGeom>
          <a:noFill/>
          <a:ln/>
        </p:spPr>
        <p:txBody>
          <a:bodyPr wrap="square" rtlCol="0" anchor="ctr"/>
          <a:lstStyle/>
          <a:p>
            <a:pPr marL="0" indent="0">
              <a:buNone/>
            </a:pPr>
            <a:r>
              <a:rPr lang="en-US" sz="1100">
                <a:solidFill>
                  <a:srgbClr val="555555"/>
                </a:solidFill>
                <a:latin typeface="Calibri" pitchFamily="34" charset="0"/>
                <a:ea typeface="Calibri" pitchFamily="34" charset="-122"/>
                <a:cs typeface="Calibri" pitchFamily="34" charset="-120"/>
              </a:rPr>
              <a:t>Heating element, fans, housing, knob — low BOM with scalable production</a:t>
            </a:r>
            <a:endParaRPr lang="en-US" sz="1100"/>
          </a:p>
        </p:txBody>
      </p:sp>
      <p:sp>
        <p:nvSpPr>
          <p:cNvPr id="9" name="Text 6"/>
          <p:cNvSpPr/>
          <p:nvPr/>
        </p:nvSpPr>
        <p:spPr>
          <a:xfrm>
            <a:off x="457200" y="1828800"/>
            <a:ext cx="2011680" cy="320040"/>
          </a:xfrm>
          <a:prstGeom prst="rect">
            <a:avLst/>
          </a:prstGeom>
          <a:noFill/>
          <a:ln/>
        </p:spPr>
        <p:txBody>
          <a:bodyPr wrap="square" rtlCol="0" anchor="ctr"/>
          <a:lstStyle/>
          <a:p>
            <a:pPr marL="0" indent="0">
              <a:buNone/>
            </a:pPr>
            <a:r>
              <a:rPr lang="en-US" sz="1100" b="1">
                <a:solidFill>
                  <a:srgbClr val="E84B25"/>
                </a:solidFill>
                <a:latin typeface="Calibri" pitchFamily="34" charset="0"/>
                <a:ea typeface="Calibri" pitchFamily="34" charset="-122"/>
                <a:cs typeface="Calibri" pitchFamily="34" charset="-120"/>
              </a:rPr>
              <a:t>R&amp;D / FDA Clearance:</a:t>
            </a:r>
            <a:endParaRPr lang="en-US" sz="1100"/>
          </a:p>
        </p:txBody>
      </p:sp>
      <p:sp>
        <p:nvSpPr>
          <p:cNvPr id="10" name="Text 7"/>
          <p:cNvSpPr/>
          <p:nvPr/>
        </p:nvSpPr>
        <p:spPr>
          <a:xfrm>
            <a:off x="2514600" y="1828800"/>
            <a:ext cx="6400800" cy="320040"/>
          </a:xfrm>
          <a:prstGeom prst="rect">
            <a:avLst/>
          </a:prstGeom>
          <a:noFill/>
          <a:ln/>
        </p:spPr>
        <p:txBody>
          <a:bodyPr wrap="square" rtlCol="0" anchor="ctr"/>
          <a:lstStyle/>
          <a:p>
            <a:pPr marL="0" indent="0">
              <a:buNone/>
            </a:pPr>
            <a:r>
              <a:rPr lang="en-US" sz="1100">
                <a:solidFill>
                  <a:srgbClr val="555555"/>
                </a:solidFill>
                <a:latin typeface="Calibri" pitchFamily="34" charset="0"/>
                <a:ea typeface="Calibri" pitchFamily="34" charset="-122"/>
                <a:cs typeface="Calibri" pitchFamily="34" charset="-120"/>
              </a:rPr>
              <a:t>Upfront investment in clinical validation and 510(k) medical device application</a:t>
            </a:r>
            <a:endParaRPr lang="en-US" sz="1100"/>
          </a:p>
        </p:txBody>
      </p:sp>
      <p:sp>
        <p:nvSpPr>
          <p:cNvPr id="11" name="Text 8"/>
          <p:cNvSpPr/>
          <p:nvPr/>
        </p:nvSpPr>
        <p:spPr>
          <a:xfrm>
            <a:off x="457200" y="2176272"/>
            <a:ext cx="2011680" cy="320040"/>
          </a:xfrm>
          <a:prstGeom prst="rect">
            <a:avLst/>
          </a:prstGeom>
          <a:noFill/>
          <a:ln/>
        </p:spPr>
        <p:txBody>
          <a:bodyPr wrap="square" rtlCol="0" anchor="ctr"/>
          <a:lstStyle/>
          <a:p>
            <a:pPr marL="0" indent="0">
              <a:buNone/>
            </a:pPr>
            <a:r>
              <a:rPr lang="en-US" sz="1100" b="1">
                <a:solidFill>
                  <a:srgbClr val="E84B25"/>
                </a:solidFill>
                <a:latin typeface="Calibri" pitchFamily="34" charset="0"/>
                <a:ea typeface="Calibri" pitchFamily="34" charset="-122"/>
                <a:cs typeface="Calibri" pitchFamily="34" charset="-120"/>
              </a:rPr>
              <a:t>Distribution:</a:t>
            </a:r>
            <a:endParaRPr lang="en-US" sz="1100"/>
          </a:p>
        </p:txBody>
      </p:sp>
      <p:sp>
        <p:nvSpPr>
          <p:cNvPr id="12" name="Text 9"/>
          <p:cNvSpPr/>
          <p:nvPr/>
        </p:nvSpPr>
        <p:spPr>
          <a:xfrm>
            <a:off x="2514600" y="2176272"/>
            <a:ext cx="6400800" cy="320040"/>
          </a:xfrm>
          <a:prstGeom prst="rect">
            <a:avLst/>
          </a:prstGeom>
          <a:noFill/>
          <a:ln/>
        </p:spPr>
        <p:txBody>
          <a:bodyPr wrap="square" rtlCol="0" anchor="ctr"/>
          <a:lstStyle/>
          <a:p>
            <a:pPr marL="0" indent="0">
              <a:buNone/>
            </a:pPr>
            <a:r>
              <a:rPr lang="en-US" sz="1100">
                <a:solidFill>
                  <a:srgbClr val="555555"/>
                </a:solidFill>
                <a:latin typeface="Calibri" pitchFamily="34" charset="0"/>
                <a:ea typeface="Calibri" pitchFamily="34" charset="-122"/>
                <a:cs typeface="Calibri" pitchFamily="34" charset="-120"/>
              </a:rPr>
              <a:t>E-commerce fulfillment (Phase 1) + medical supply chain (Phase 2)</a:t>
            </a:r>
            <a:endParaRPr lang="en-US" sz="1100"/>
          </a:p>
        </p:txBody>
      </p:sp>
      <p:sp>
        <p:nvSpPr>
          <p:cNvPr id="13" name="Shape 10"/>
          <p:cNvSpPr/>
          <p:nvPr/>
        </p:nvSpPr>
        <p:spPr>
          <a:xfrm>
            <a:off x="365760" y="2587752"/>
            <a:ext cx="8412480" cy="36576"/>
          </a:xfrm>
          <a:prstGeom prst="rect">
            <a:avLst/>
          </a:prstGeom>
          <a:solidFill>
            <a:srgbClr val="DDCCBB"/>
          </a:solidFill>
          <a:ln w="12700">
            <a:solidFill>
              <a:srgbClr val="DDCCBB"/>
            </a:solidFill>
            <a:prstDash val="solid"/>
          </a:ln>
        </p:spPr>
        <p:txBody>
          <a:bodyPr/>
          <a:lstStyle/>
          <a:p>
            <a:endParaRPr lang="en-US"/>
          </a:p>
        </p:txBody>
      </p:sp>
      <p:sp>
        <p:nvSpPr>
          <p:cNvPr id="14" name="Shape 11"/>
          <p:cNvSpPr/>
          <p:nvPr/>
        </p:nvSpPr>
        <p:spPr>
          <a:xfrm>
            <a:off x="274320" y="2743200"/>
            <a:ext cx="4160520" cy="2194560"/>
          </a:xfrm>
          <a:prstGeom prst="rect">
            <a:avLst/>
          </a:prstGeom>
          <a:solidFill>
            <a:srgbClr val="FFFFFF"/>
          </a:solidFill>
          <a:ln/>
          <a:effectLst>
            <a:outerShdw blurRad="101600" dist="25400" dir="8100000" algn="bl" rotWithShape="0">
              <a:srgbClr val="000000">
                <a:alpha val="10000"/>
              </a:srgbClr>
            </a:outerShdw>
          </a:effectLst>
        </p:spPr>
        <p:txBody>
          <a:bodyPr/>
          <a:lstStyle/>
          <a:p>
            <a:endParaRPr lang="en-US"/>
          </a:p>
        </p:txBody>
      </p:sp>
      <p:sp>
        <p:nvSpPr>
          <p:cNvPr id="15" name="Shape 12"/>
          <p:cNvSpPr/>
          <p:nvPr/>
        </p:nvSpPr>
        <p:spPr>
          <a:xfrm>
            <a:off x="274320" y="2743200"/>
            <a:ext cx="4160520" cy="64008"/>
          </a:xfrm>
          <a:prstGeom prst="rect">
            <a:avLst/>
          </a:prstGeom>
          <a:solidFill>
            <a:srgbClr val="E84B25"/>
          </a:solidFill>
          <a:ln w="12700">
            <a:solidFill>
              <a:srgbClr val="E84B25"/>
            </a:solidFill>
            <a:prstDash val="solid"/>
          </a:ln>
        </p:spPr>
        <p:txBody>
          <a:bodyPr/>
          <a:lstStyle/>
          <a:p>
            <a:endParaRPr lang="en-US"/>
          </a:p>
        </p:txBody>
      </p:sp>
      <p:pic>
        <p:nvPicPr>
          <p:cNvPr id="16" name="Image 1" descr="preencoded.png"/>
          <p:cNvPicPr>
            <a:picLocks noChangeAspect="1"/>
          </p:cNvPicPr>
          <p:nvPr/>
        </p:nvPicPr>
        <p:blipFill>
          <a:blip r:embed="rId4"/>
          <a:stretch>
            <a:fillRect/>
          </a:stretch>
        </p:blipFill>
        <p:spPr>
          <a:xfrm>
            <a:off x="438912" y="2852928"/>
            <a:ext cx="365760" cy="365760"/>
          </a:xfrm>
          <a:prstGeom prst="rect">
            <a:avLst/>
          </a:prstGeom>
        </p:spPr>
      </p:pic>
      <p:sp>
        <p:nvSpPr>
          <p:cNvPr id="17" name="Text 13"/>
          <p:cNvSpPr/>
          <p:nvPr/>
        </p:nvSpPr>
        <p:spPr>
          <a:xfrm>
            <a:off x="914400" y="2834640"/>
            <a:ext cx="3429000" cy="411480"/>
          </a:xfrm>
          <a:prstGeom prst="rect">
            <a:avLst/>
          </a:prstGeom>
          <a:noFill/>
          <a:ln/>
        </p:spPr>
        <p:txBody>
          <a:bodyPr wrap="square" rtlCol="0" anchor="ctr"/>
          <a:lstStyle/>
          <a:p>
            <a:pPr marL="0" indent="0">
              <a:buNone/>
            </a:pPr>
            <a:r>
              <a:rPr lang="en-US" sz="1200" b="1">
                <a:solidFill>
                  <a:srgbClr val="1C1C1C"/>
                </a:solidFill>
                <a:latin typeface="Calibri" pitchFamily="34" charset="0"/>
                <a:ea typeface="Calibri" pitchFamily="34" charset="-122"/>
                <a:cs typeface="Calibri" pitchFamily="34" charset="-120"/>
              </a:rPr>
              <a:t>Phase 1 — Direct to Consumer</a:t>
            </a:r>
            <a:endParaRPr lang="en-US" sz="1200"/>
          </a:p>
        </p:txBody>
      </p:sp>
      <p:sp>
        <p:nvSpPr>
          <p:cNvPr id="18" name="Text 14"/>
          <p:cNvSpPr/>
          <p:nvPr/>
        </p:nvSpPr>
        <p:spPr>
          <a:xfrm>
            <a:off x="457200" y="3310128"/>
            <a:ext cx="3840480" cy="1508760"/>
          </a:xfrm>
          <a:prstGeom prst="rect">
            <a:avLst/>
          </a:prstGeom>
          <a:noFill/>
          <a:ln/>
        </p:spPr>
        <p:txBody>
          <a:bodyPr wrap="square" rtlCol="0" anchor="ctr"/>
          <a:lstStyle/>
          <a:p>
            <a:pPr marL="0" indent="0">
              <a:buNone/>
            </a:pPr>
            <a:r>
              <a:rPr lang="en-US" sz="1050">
                <a:solidFill>
                  <a:srgbClr val="555555"/>
                </a:solidFill>
                <a:latin typeface="Calibri" pitchFamily="34" charset="0"/>
                <a:ea typeface="Calibri" pitchFamily="34" charset="-122"/>
                <a:cs typeface="Calibri" pitchFamily="34" charset="-120"/>
              </a:rPr>
              <a:t>Launch on e-commerce (website, Amazon, medical device retailers)</a:t>
            </a:r>
            <a:endParaRPr lang="en-US" sz="1050"/>
          </a:p>
          <a:p>
            <a:pPr marL="0" indent="0">
              <a:buNone/>
            </a:pPr>
            <a:endParaRPr lang="en-US" sz="1050"/>
          </a:p>
          <a:p>
            <a:pPr marL="0" indent="0">
              <a:buNone/>
            </a:pPr>
            <a:r>
              <a:rPr lang="en-US" sz="1050">
                <a:solidFill>
                  <a:srgbClr val="555555"/>
                </a:solidFill>
                <a:latin typeface="Calibri" pitchFamily="34" charset="0"/>
                <a:ea typeface="Calibri" pitchFamily="34" charset="-122"/>
                <a:cs typeface="Calibri" pitchFamily="34" charset="-120"/>
              </a:rPr>
              <a:t>Target office workers, students, Raynaud's community</a:t>
            </a:r>
            <a:endParaRPr lang="en-US" sz="1050"/>
          </a:p>
          <a:p>
            <a:pPr marL="0" indent="0">
              <a:buNone/>
            </a:pPr>
            <a:endParaRPr lang="en-US" sz="1050"/>
          </a:p>
          <a:p>
            <a:pPr marL="0" indent="0">
              <a:buNone/>
            </a:pPr>
            <a:r>
              <a:rPr lang="en-US" sz="1050">
                <a:solidFill>
                  <a:srgbClr val="555555"/>
                </a:solidFill>
                <a:latin typeface="Calibri" pitchFamily="34" charset="0"/>
                <a:ea typeface="Calibri" pitchFamily="34" charset="-122"/>
                <a:cs typeface="Calibri" pitchFamily="34" charset="-120"/>
              </a:rPr>
              <a:t>Generate cash flow + real-world user data</a:t>
            </a:r>
            <a:endParaRPr lang="en-US" sz="1050"/>
          </a:p>
          <a:p>
            <a:pPr marL="0" indent="0">
              <a:buNone/>
            </a:pPr>
            <a:endParaRPr lang="en-US" sz="1050"/>
          </a:p>
          <a:p>
            <a:pPr marL="0" indent="0">
              <a:buNone/>
            </a:pPr>
            <a:r>
              <a:rPr lang="en-US" sz="1050">
                <a:solidFill>
                  <a:srgbClr val="555555"/>
                </a:solidFill>
                <a:latin typeface="Calibri" pitchFamily="34" charset="0"/>
                <a:ea typeface="Calibri" pitchFamily="34" charset="-122"/>
                <a:cs typeface="Calibri" pitchFamily="34" charset="-120"/>
              </a:rPr>
              <a:t>Fund via venture capital while building FDA pipeline</a:t>
            </a:r>
            <a:endParaRPr lang="en-US" sz="1050"/>
          </a:p>
        </p:txBody>
      </p:sp>
      <p:sp>
        <p:nvSpPr>
          <p:cNvPr id="19" name="Shape 15"/>
          <p:cNvSpPr/>
          <p:nvPr/>
        </p:nvSpPr>
        <p:spPr>
          <a:xfrm>
            <a:off x="4663440" y="2743200"/>
            <a:ext cx="4160520" cy="2194560"/>
          </a:xfrm>
          <a:prstGeom prst="rect">
            <a:avLst/>
          </a:prstGeom>
          <a:solidFill>
            <a:srgbClr val="FFFFFF"/>
          </a:solidFill>
          <a:ln/>
          <a:effectLst>
            <a:outerShdw blurRad="101600" dist="25400" dir="8100000" algn="bl" rotWithShape="0">
              <a:srgbClr val="000000">
                <a:alpha val="10000"/>
              </a:srgbClr>
            </a:outerShdw>
          </a:effectLst>
        </p:spPr>
        <p:txBody>
          <a:bodyPr/>
          <a:lstStyle/>
          <a:p>
            <a:endParaRPr lang="en-US"/>
          </a:p>
        </p:txBody>
      </p:sp>
      <p:sp>
        <p:nvSpPr>
          <p:cNvPr id="20" name="Shape 16"/>
          <p:cNvSpPr/>
          <p:nvPr/>
        </p:nvSpPr>
        <p:spPr>
          <a:xfrm>
            <a:off x="4663440" y="2743200"/>
            <a:ext cx="4160520" cy="64008"/>
          </a:xfrm>
          <a:prstGeom prst="rect">
            <a:avLst/>
          </a:prstGeom>
          <a:solidFill>
            <a:srgbClr val="02C39A"/>
          </a:solidFill>
          <a:ln w="12700">
            <a:solidFill>
              <a:srgbClr val="02C39A"/>
            </a:solidFill>
            <a:prstDash val="solid"/>
          </a:ln>
        </p:spPr>
        <p:txBody>
          <a:bodyPr/>
          <a:lstStyle/>
          <a:p>
            <a:endParaRPr lang="en-US"/>
          </a:p>
        </p:txBody>
      </p:sp>
      <p:pic>
        <p:nvPicPr>
          <p:cNvPr id="21" name="Image 2" descr="preencoded.png"/>
          <p:cNvPicPr>
            <a:picLocks noChangeAspect="1"/>
          </p:cNvPicPr>
          <p:nvPr/>
        </p:nvPicPr>
        <p:blipFill>
          <a:blip r:embed="rId5"/>
          <a:stretch>
            <a:fillRect/>
          </a:stretch>
        </p:blipFill>
        <p:spPr>
          <a:xfrm>
            <a:off x="4828032" y="2852928"/>
            <a:ext cx="365760" cy="365760"/>
          </a:xfrm>
          <a:prstGeom prst="rect">
            <a:avLst/>
          </a:prstGeom>
        </p:spPr>
      </p:pic>
      <p:sp>
        <p:nvSpPr>
          <p:cNvPr id="22" name="Text 17"/>
          <p:cNvSpPr/>
          <p:nvPr/>
        </p:nvSpPr>
        <p:spPr>
          <a:xfrm>
            <a:off x="5303520" y="2834640"/>
            <a:ext cx="3429000" cy="411480"/>
          </a:xfrm>
          <a:prstGeom prst="rect">
            <a:avLst/>
          </a:prstGeom>
          <a:noFill/>
          <a:ln/>
        </p:spPr>
        <p:txBody>
          <a:bodyPr wrap="square" rtlCol="0" anchor="ctr"/>
          <a:lstStyle/>
          <a:p>
            <a:pPr marL="0" indent="0">
              <a:buNone/>
            </a:pPr>
            <a:r>
              <a:rPr lang="en-US" sz="1200" b="1">
                <a:solidFill>
                  <a:srgbClr val="1C1C1C"/>
                </a:solidFill>
                <a:latin typeface="Calibri" pitchFamily="34" charset="0"/>
                <a:ea typeface="Calibri" pitchFamily="34" charset="-122"/>
                <a:cs typeface="Calibri" pitchFamily="34" charset="-120"/>
              </a:rPr>
              <a:t>Phase 2 — Healthcare Integration</a:t>
            </a:r>
            <a:endParaRPr lang="en-US" sz="1200"/>
          </a:p>
        </p:txBody>
      </p:sp>
      <p:sp>
        <p:nvSpPr>
          <p:cNvPr id="23" name="Text 18"/>
          <p:cNvSpPr/>
          <p:nvPr/>
        </p:nvSpPr>
        <p:spPr>
          <a:xfrm>
            <a:off x="4846320" y="3310128"/>
            <a:ext cx="3840480" cy="1508760"/>
          </a:xfrm>
          <a:prstGeom prst="rect">
            <a:avLst/>
          </a:prstGeom>
          <a:noFill/>
          <a:ln/>
        </p:spPr>
        <p:txBody>
          <a:bodyPr wrap="square" lIns="91440" tIns="45720" rIns="91440" bIns="45720" rtlCol="0" anchor="ctr"/>
          <a:lstStyle/>
          <a:p>
            <a:pPr marL="0" indent="0">
              <a:buNone/>
            </a:pPr>
            <a:r>
              <a:rPr lang="en-US" sz="1050">
                <a:solidFill>
                  <a:srgbClr val="555555"/>
                </a:solidFill>
                <a:latin typeface="Calibri" pitchFamily="34" charset="0"/>
                <a:ea typeface="Calibri" pitchFamily="34" charset="-122"/>
                <a:cs typeface="Calibri" pitchFamily="34" charset="-120"/>
              </a:rPr>
              <a:t>Pursue FDA 510(k) clearance as a medical device</a:t>
            </a:r>
            <a:endParaRPr lang="en-US" sz="1050"/>
          </a:p>
          <a:p>
            <a:pPr marL="0" indent="0">
              <a:buNone/>
            </a:pPr>
            <a:endParaRPr lang="en-US" sz="1050"/>
          </a:p>
          <a:p>
            <a:pPr marL="0" indent="0">
              <a:buNone/>
            </a:pPr>
            <a:r>
              <a:rPr lang="en-US" sz="1050">
                <a:solidFill>
                  <a:srgbClr val="555555"/>
                </a:solidFill>
                <a:latin typeface="Calibri" pitchFamily="34" charset="0"/>
                <a:ea typeface="Calibri" pitchFamily="34" charset="-122"/>
                <a:cs typeface="Calibri" pitchFamily="34" charset="-120"/>
              </a:rPr>
              <a:t>Partner with insurance providers for reimbursement</a:t>
            </a:r>
            <a:endParaRPr lang="en-US" sz="1050"/>
          </a:p>
          <a:p>
            <a:pPr marL="0" indent="0">
              <a:buNone/>
            </a:pPr>
            <a:endParaRPr lang="en-US" sz="1050"/>
          </a:p>
          <a:p>
            <a:r>
              <a:rPr lang="en-US" sz="1050">
                <a:solidFill>
                  <a:srgbClr val="555555"/>
                </a:solidFill>
                <a:latin typeface="Calibri"/>
                <a:ea typeface="Calibri"/>
                <a:cs typeface="Calibri"/>
              </a:rPr>
              <a:t>Physicians prescribe Hotrod for Raynaud's &amp; arthritis patients</a:t>
            </a:r>
            <a:endParaRPr lang="en-US" sz="1050">
              <a:latin typeface="Calibri"/>
              <a:ea typeface="Calibri"/>
              <a:cs typeface="Calibri"/>
            </a:endParaRPr>
          </a:p>
          <a:p>
            <a:pPr marL="0" indent="0">
              <a:buNone/>
            </a:pPr>
            <a:endParaRPr lang="en-US" sz="1050"/>
          </a:p>
          <a:p>
            <a:pPr marL="0" indent="0">
              <a:buNone/>
            </a:pPr>
            <a:r>
              <a:rPr lang="en-US" sz="1050">
                <a:solidFill>
                  <a:srgbClr val="555555"/>
                </a:solidFill>
                <a:latin typeface="Calibri" pitchFamily="34" charset="0"/>
                <a:ea typeface="Calibri" pitchFamily="34" charset="-122"/>
                <a:cs typeface="Calibri" pitchFamily="34" charset="-120"/>
              </a:rPr>
              <a:t>Patients receive at low/no cost via insurance claims</a:t>
            </a:r>
            <a:endParaRPr lang="en-US" sz="105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C00000"/>
          </a:solidFill>
          <a:ln w="12700">
            <a:solidFill>
              <a:srgbClr val="0D0D0D"/>
            </a:solidFill>
            <a:prstDash val="solid"/>
          </a:ln>
        </p:spPr>
        <p:txBody>
          <a:bodyPr/>
          <a:lstStyle/>
          <a:p>
            <a:endParaRPr lang="en-US"/>
          </a:p>
        </p:txBody>
      </p:sp>
      <p:sp>
        <p:nvSpPr>
          <p:cNvPr id="4" name="Text 2"/>
          <p:cNvSpPr/>
          <p:nvPr/>
        </p:nvSpPr>
        <p:spPr>
          <a:xfrm>
            <a:off x="411480" y="0"/>
            <a:ext cx="8321040" cy="868680"/>
          </a:xfrm>
          <a:prstGeom prst="rect">
            <a:avLst/>
          </a:prstGeom>
          <a:noFill/>
          <a:ln/>
        </p:spPr>
        <p:txBody>
          <a:bodyPr wrap="square" rtlCol="0" anchor="ctr"/>
          <a:lstStyle/>
          <a:p>
            <a:pPr marL="0" indent="0">
              <a:buNone/>
            </a:pPr>
            <a:r>
              <a:rPr lang="en-US" sz="2800" b="1">
                <a:solidFill>
                  <a:srgbClr val="F5F0EB"/>
                </a:solidFill>
                <a:latin typeface="Arial Black" pitchFamily="34" charset="0"/>
                <a:ea typeface="Arial Black" pitchFamily="34" charset="-122"/>
                <a:cs typeface="Arial Black" pitchFamily="34" charset="-120"/>
              </a:rPr>
              <a:t>Closing</a:t>
            </a:r>
            <a:endParaRPr lang="en-US" sz="2800"/>
          </a:p>
        </p:txBody>
      </p:sp>
      <p:sp>
        <p:nvSpPr>
          <p:cNvPr id="5" name="Shape 3"/>
          <p:cNvSpPr/>
          <p:nvPr/>
        </p:nvSpPr>
        <p:spPr>
          <a:xfrm>
            <a:off x="320040" y="1051560"/>
            <a:ext cx="4160520" cy="1691640"/>
          </a:xfrm>
          <a:prstGeom prst="rect">
            <a:avLst/>
          </a:prstGeom>
          <a:solidFill>
            <a:srgbClr val="1E1E1E"/>
          </a:solidFill>
          <a:ln/>
          <a:effectLst>
            <a:outerShdw blurRad="101600" dist="25400" dir="8100000" algn="bl" rotWithShape="0">
              <a:srgbClr val="000000">
                <a:alpha val="40000"/>
              </a:srgbClr>
            </a:outerShdw>
          </a:effectLst>
        </p:spPr>
        <p:txBody>
          <a:bodyPr/>
          <a:lstStyle/>
          <a:p>
            <a:endParaRPr lang="en-US"/>
          </a:p>
        </p:txBody>
      </p:sp>
      <p:sp>
        <p:nvSpPr>
          <p:cNvPr id="6" name="Shape 4"/>
          <p:cNvSpPr/>
          <p:nvPr/>
        </p:nvSpPr>
        <p:spPr>
          <a:xfrm>
            <a:off x="320040" y="1051560"/>
            <a:ext cx="64008" cy="1691640"/>
          </a:xfrm>
          <a:prstGeom prst="rect">
            <a:avLst/>
          </a:prstGeom>
          <a:solidFill>
            <a:srgbClr val="E84B25"/>
          </a:solidFill>
          <a:ln w="12700">
            <a:solidFill>
              <a:srgbClr val="E84B25"/>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484632" y="1216152"/>
            <a:ext cx="384048" cy="384048"/>
          </a:xfrm>
          <a:prstGeom prst="rect">
            <a:avLst/>
          </a:prstGeom>
        </p:spPr>
      </p:pic>
      <p:sp>
        <p:nvSpPr>
          <p:cNvPr id="8" name="Text 5"/>
          <p:cNvSpPr/>
          <p:nvPr/>
        </p:nvSpPr>
        <p:spPr>
          <a:xfrm>
            <a:off x="987552" y="1161288"/>
            <a:ext cx="3401568" cy="411480"/>
          </a:xfrm>
          <a:prstGeom prst="rect">
            <a:avLst/>
          </a:prstGeom>
          <a:noFill/>
          <a:ln/>
        </p:spPr>
        <p:txBody>
          <a:bodyPr wrap="square" rtlCol="0" anchor="ctr"/>
          <a:lstStyle/>
          <a:p>
            <a:pPr marL="0" indent="0">
              <a:buNone/>
            </a:pPr>
            <a:r>
              <a:rPr lang="en-US" sz="1300" b="1">
                <a:solidFill>
                  <a:srgbClr val="F5F0EB"/>
                </a:solidFill>
                <a:latin typeface="Calibri" pitchFamily="34" charset="0"/>
                <a:ea typeface="Calibri" pitchFamily="34" charset="-122"/>
                <a:cs typeface="Calibri" pitchFamily="34" charset="-120"/>
              </a:rPr>
              <a:t>Real Pain, Real People</a:t>
            </a:r>
            <a:endParaRPr lang="en-US" sz="1300"/>
          </a:p>
        </p:txBody>
      </p:sp>
      <p:sp>
        <p:nvSpPr>
          <p:cNvPr id="9" name="Text 6"/>
          <p:cNvSpPr/>
          <p:nvPr/>
        </p:nvSpPr>
        <p:spPr>
          <a:xfrm>
            <a:off x="484632" y="1673352"/>
            <a:ext cx="3904488" cy="960120"/>
          </a:xfrm>
          <a:prstGeom prst="rect">
            <a:avLst/>
          </a:prstGeom>
          <a:noFill/>
          <a:ln/>
        </p:spPr>
        <p:txBody>
          <a:bodyPr wrap="square" rtlCol="0" anchor="ctr"/>
          <a:lstStyle/>
          <a:p>
            <a:pPr marL="0" indent="0">
              <a:buNone/>
            </a:pPr>
            <a:r>
              <a:rPr lang="en-US" sz="1050">
                <a:solidFill>
                  <a:srgbClr val="9A8A7A"/>
                </a:solidFill>
                <a:latin typeface="Calibri" pitchFamily="34" charset="0"/>
                <a:ea typeface="Calibri" pitchFamily="34" charset="-122"/>
                <a:cs typeface="Calibri" pitchFamily="34" charset="-120"/>
              </a:rPr>
              <a:t>Millions of Americans suffer cold hands daily. For Raynaud's patients, it's clinical. We have real customer interviews to prove the need.</a:t>
            </a:r>
            <a:endParaRPr lang="en-US" sz="1050"/>
          </a:p>
        </p:txBody>
      </p:sp>
      <p:sp>
        <p:nvSpPr>
          <p:cNvPr id="10" name="Shape 7"/>
          <p:cNvSpPr/>
          <p:nvPr/>
        </p:nvSpPr>
        <p:spPr>
          <a:xfrm>
            <a:off x="4754880" y="1051560"/>
            <a:ext cx="4160520" cy="1691640"/>
          </a:xfrm>
          <a:prstGeom prst="rect">
            <a:avLst/>
          </a:prstGeom>
          <a:solidFill>
            <a:srgbClr val="1E1E1E"/>
          </a:solidFill>
          <a:ln/>
          <a:effectLst>
            <a:outerShdw blurRad="101600" dist="25400" dir="8100000" algn="bl" rotWithShape="0">
              <a:srgbClr val="000000">
                <a:alpha val="40000"/>
              </a:srgbClr>
            </a:outerShdw>
          </a:effectLst>
        </p:spPr>
        <p:txBody>
          <a:bodyPr/>
          <a:lstStyle/>
          <a:p>
            <a:endParaRPr lang="en-US"/>
          </a:p>
        </p:txBody>
      </p:sp>
      <p:sp>
        <p:nvSpPr>
          <p:cNvPr id="11" name="Shape 8"/>
          <p:cNvSpPr/>
          <p:nvPr/>
        </p:nvSpPr>
        <p:spPr>
          <a:xfrm>
            <a:off x="4754880" y="1051560"/>
            <a:ext cx="64008" cy="1691640"/>
          </a:xfrm>
          <a:prstGeom prst="rect">
            <a:avLst/>
          </a:prstGeom>
          <a:solidFill>
            <a:srgbClr val="E84B25"/>
          </a:solidFill>
          <a:ln w="12700">
            <a:solidFill>
              <a:srgbClr val="E84B25"/>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4919472" y="1216152"/>
            <a:ext cx="384048" cy="384048"/>
          </a:xfrm>
          <a:prstGeom prst="rect">
            <a:avLst/>
          </a:prstGeom>
        </p:spPr>
      </p:pic>
      <p:sp>
        <p:nvSpPr>
          <p:cNvPr id="13" name="Text 9"/>
          <p:cNvSpPr/>
          <p:nvPr/>
        </p:nvSpPr>
        <p:spPr>
          <a:xfrm>
            <a:off x="5422392" y="1161288"/>
            <a:ext cx="3401568" cy="411480"/>
          </a:xfrm>
          <a:prstGeom prst="rect">
            <a:avLst/>
          </a:prstGeom>
          <a:noFill/>
          <a:ln/>
        </p:spPr>
        <p:txBody>
          <a:bodyPr wrap="square" rtlCol="0" anchor="ctr"/>
          <a:lstStyle/>
          <a:p>
            <a:pPr marL="0" indent="0">
              <a:buNone/>
            </a:pPr>
            <a:r>
              <a:rPr lang="en-US" sz="1300" b="1">
                <a:solidFill>
                  <a:srgbClr val="F5F0EB"/>
                </a:solidFill>
                <a:latin typeface="Calibri" pitchFamily="34" charset="0"/>
                <a:ea typeface="Calibri" pitchFamily="34" charset="-122"/>
                <a:cs typeface="Calibri" pitchFamily="34" charset="-120"/>
              </a:rPr>
              <a:t>Proven Concept</a:t>
            </a:r>
            <a:endParaRPr lang="en-US" sz="1300"/>
          </a:p>
        </p:txBody>
      </p:sp>
      <p:sp>
        <p:nvSpPr>
          <p:cNvPr id="14" name="Text 10"/>
          <p:cNvSpPr/>
          <p:nvPr/>
        </p:nvSpPr>
        <p:spPr>
          <a:xfrm>
            <a:off x="4919472" y="1673352"/>
            <a:ext cx="3904488" cy="960120"/>
          </a:xfrm>
          <a:prstGeom prst="rect">
            <a:avLst/>
          </a:prstGeom>
          <a:noFill/>
          <a:ln/>
        </p:spPr>
        <p:txBody>
          <a:bodyPr wrap="square" lIns="91440" tIns="45720" rIns="91440" bIns="45720" rtlCol="0" anchor="ctr"/>
          <a:lstStyle/>
          <a:p>
            <a:r>
              <a:rPr lang="en-US" sz="1050">
                <a:solidFill>
                  <a:srgbClr val="9A8A7A"/>
                </a:solidFill>
                <a:latin typeface="Calibri"/>
                <a:ea typeface="Calibri"/>
                <a:cs typeface="Calibri"/>
              </a:rPr>
              <a:t>Three design iterations led to a safe, enclosed fan-based system. The v3 Hotrod is ready for production prototyping.</a:t>
            </a:r>
            <a:endParaRPr lang="en-US" sz="1050">
              <a:latin typeface="Calibri"/>
              <a:ea typeface="Calibri"/>
              <a:cs typeface="Calibri"/>
            </a:endParaRPr>
          </a:p>
        </p:txBody>
      </p:sp>
      <p:sp>
        <p:nvSpPr>
          <p:cNvPr id="15" name="Shape 11"/>
          <p:cNvSpPr/>
          <p:nvPr/>
        </p:nvSpPr>
        <p:spPr>
          <a:xfrm>
            <a:off x="320040" y="2926080"/>
            <a:ext cx="4160520" cy="1691640"/>
          </a:xfrm>
          <a:prstGeom prst="rect">
            <a:avLst/>
          </a:prstGeom>
          <a:solidFill>
            <a:srgbClr val="1E1E1E"/>
          </a:solidFill>
          <a:ln/>
          <a:effectLst>
            <a:outerShdw blurRad="101600" dist="25400" dir="8100000" algn="bl" rotWithShape="0">
              <a:srgbClr val="000000">
                <a:alpha val="40000"/>
              </a:srgbClr>
            </a:outerShdw>
          </a:effectLst>
        </p:spPr>
        <p:txBody>
          <a:bodyPr/>
          <a:lstStyle/>
          <a:p>
            <a:endParaRPr lang="en-US"/>
          </a:p>
        </p:txBody>
      </p:sp>
      <p:sp>
        <p:nvSpPr>
          <p:cNvPr id="16" name="Shape 12"/>
          <p:cNvSpPr/>
          <p:nvPr/>
        </p:nvSpPr>
        <p:spPr>
          <a:xfrm>
            <a:off x="320040" y="2926080"/>
            <a:ext cx="64008" cy="1691640"/>
          </a:xfrm>
          <a:prstGeom prst="rect">
            <a:avLst/>
          </a:prstGeom>
          <a:solidFill>
            <a:srgbClr val="E84B25"/>
          </a:solidFill>
          <a:ln w="12700">
            <a:solidFill>
              <a:srgbClr val="E84B25"/>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484632" y="3090672"/>
            <a:ext cx="384048" cy="384048"/>
          </a:xfrm>
          <a:prstGeom prst="rect">
            <a:avLst/>
          </a:prstGeom>
        </p:spPr>
      </p:pic>
      <p:sp>
        <p:nvSpPr>
          <p:cNvPr id="18" name="Text 13"/>
          <p:cNvSpPr/>
          <p:nvPr/>
        </p:nvSpPr>
        <p:spPr>
          <a:xfrm>
            <a:off x="987552" y="3035808"/>
            <a:ext cx="3401568" cy="411480"/>
          </a:xfrm>
          <a:prstGeom prst="rect">
            <a:avLst/>
          </a:prstGeom>
          <a:noFill/>
          <a:ln/>
        </p:spPr>
        <p:txBody>
          <a:bodyPr wrap="square" rtlCol="0" anchor="ctr"/>
          <a:lstStyle/>
          <a:p>
            <a:pPr marL="0" indent="0">
              <a:buNone/>
            </a:pPr>
            <a:r>
              <a:rPr lang="en-US" sz="1300" b="1">
                <a:solidFill>
                  <a:srgbClr val="F5F0EB"/>
                </a:solidFill>
                <a:latin typeface="Calibri" pitchFamily="34" charset="0"/>
                <a:ea typeface="Calibri" pitchFamily="34" charset="-122"/>
                <a:cs typeface="Calibri" pitchFamily="34" charset="-120"/>
              </a:rPr>
              <a:t>Massive, Layered Market</a:t>
            </a:r>
            <a:endParaRPr lang="en-US" sz="1300"/>
          </a:p>
        </p:txBody>
      </p:sp>
      <p:sp>
        <p:nvSpPr>
          <p:cNvPr id="19" name="Text 14"/>
          <p:cNvSpPr/>
          <p:nvPr/>
        </p:nvSpPr>
        <p:spPr>
          <a:xfrm>
            <a:off x="484632" y="3547872"/>
            <a:ext cx="3904488" cy="960120"/>
          </a:xfrm>
          <a:prstGeom prst="rect">
            <a:avLst/>
          </a:prstGeom>
          <a:noFill/>
          <a:ln/>
        </p:spPr>
        <p:txBody>
          <a:bodyPr wrap="square" rtlCol="0" anchor="ctr"/>
          <a:lstStyle/>
          <a:p>
            <a:pPr marL="0" indent="0">
              <a:buNone/>
            </a:pPr>
            <a:r>
              <a:rPr lang="en-US" sz="1050">
                <a:solidFill>
                  <a:srgbClr val="9A8A7A"/>
                </a:solidFill>
                <a:latin typeface="Calibri" pitchFamily="34" charset="0"/>
                <a:ea typeface="Calibri" pitchFamily="34" charset="-122"/>
                <a:cs typeface="Calibri" pitchFamily="34" charset="-120"/>
              </a:rPr>
              <a:t>Three rings of customers — from general cold-hand sufferers to diagnosed Raynaud's disease patients — give us both a consumer and medical path to scale.</a:t>
            </a:r>
            <a:endParaRPr lang="en-US" sz="1050"/>
          </a:p>
        </p:txBody>
      </p:sp>
      <p:sp>
        <p:nvSpPr>
          <p:cNvPr id="20" name="Shape 15"/>
          <p:cNvSpPr/>
          <p:nvPr/>
        </p:nvSpPr>
        <p:spPr>
          <a:xfrm>
            <a:off x="4754880" y="2926080"/>
            <a:ext cx="4160520" cy="1691640"/>
          </a:xfrm>
          <a:prstGeom prst="rect">
            <a:avLst/>
          </a:prstGeom>
          <a:solidFill>
            <a:srgbClr val="1E1E1E"/>
          </a:solidFill>
          <a:ln/>
          <a:effectLst>
            <a:outerShdw blurRad="101600" dist="25400" dir="8100000" algn="bl" rotWithShape="0">
              <a:srgbClr val="000000">
                <a:alpha val="40000"/>
              </a:srgbClr>
            </a:outerShdw>
          </a:effectLst>
        </p:spPr>
        <p:txBody>
          <a:bodyPr/>
          <a:lstStyle/>
          <a:p>
            <a:endParaRPr lang="en-US"/>
          </a:p>
        </p:txBody>
      </p:sp>
      <p:sp>
        <p:nvSpPr>
          <p:cNvPr id="21" name="Shape 16"/>
          <p:cNvSpPr/>
          <p:nvPr/>
        </p:nvSpPr>
        <p:spPr>
          <a:xfrm>
            <a:off x="4754880" y="2926080"/>
            <a:ext cx="64008" cy="1691640"/>
          </a:xfrm>
          <a:prstGeom prst="rect">
            <a:avLst/>
          </a:prstGeom>
          <a:solidFill>
            <a:srgbClr val="E84B25"/>
          </a:solidFill>
          <a:ln w="12700">
            <a:solidFill>
              <a:srgbClr val="E84B25"/>
            </a:solidFill>
            <a:prstDash val="solid"/>
          </a:ln>
        </p:spPr>
        <p:txBody>
          <a:bodyPr/>
          <a:lstStyle/>
          <a:p>
            <a:endParaRPr lang="en-US"/>
          </a:p>
        </p:txBody>
      </p:sp>
      <p:pic>
        <p:nvPicPr>
          <p:cNvPr id="22" name="Image 3" descr="preencoded.png"/>
          <p:cNvPicPr>
            <a:picLocks noChangeAspect="1"/>
          </p:cNvPicPr>
          <p:nvPr/>
        </p:nvPicPr>
        <p:blipFill>
          <a:blip r:embed="rId6"/>
          <a:stretch>
            <a:fillRect/>
          </a:stretch>
        </p:blipFill>
        <p:spPr>
          <a:xfrm>
            <a:off x="4919472" y="3090672"/>
            <a:ext cx="384048" cy="384048"/>
          </a:xfrm>
          <a:prstGeom prst="rect">
            <a:avLst/>
          </a:prstGeom>
        </p:spPr>
      </p:pic>
      <p:sp>
        <p:nvSpPr>
          <p:cNvPr id="23" name="Text 17"/>
          <p:cNvSpPr/>
          <p:nvPr/>
        </p:nvSpPr>
        <p:spPr>
          <a:xfrm>
            <a:off x="5422392" y="3035808"/>
            <a:ext cx="3401568" cy="411480"/>
          </a:xfrm>
          <a:prstGeom prst="rect">
            <a:avLst/>
          </a:prstGeom>
          <a:noFill/>
          <a:ln/>
        </p:spPr>
        <p:txBody>
          <a:bodyPr wrap="square" rtlCol="0" anchor="ctr"/>
          <a:lstStyle/>
          <a:p>
            <a:pPr marL="0" indent="0">
              <a:buNone/>
            </a:pPr>
            <a:r>
              <a:rPr lang="en-US" sz="1300" b="1">
                <a:solidFill>
                  <a:srgbClr val="F5F0EB"/>
                </a:solidFill>
                <a:latin typeface="Calibri" pitchFamily="34" charset="0"/>
                <a:ea typeface="Calibri" pitchFamily="34" charset="-122"/>
                <a:cs typeface="Calibri" pitchFamily="34" charset="-120"/>
              </a:rPr>
              <a:t>Dual Revenue Path</a:t>
            </a:r>
            <a:endParaRPr lang="en-US" sz="1300"/>
          </a:p>
        </p:txBody>
      </p:sp>
      <p:sp>
        <p:nvSpPr>
          <p:cNvPr id="24" name="Text 18"/>
          <p:cNvSpPr/>
          <p:nvPr/>
        </p:nvSpPr>
        <p:spPr>
          <a:xfrm>
            <a:off x="4919472" y="3547872"/>
            <a:ext cx="3904488" cy="960120"/>
          </a:xfrm>
          <a:prstGeom prst="rect">
            <a:avLst/>
          </a:prstGeom>
          <a:noFill/>
          <a:ln/>
        </p:spPr>
        <p:txBody>
          <a:bodyPr wrap="square" rtlCol="0" anchor="ctr"/>
          <a:lstStyle/>
          <a:p>
            <a:pPr marL="0" indent="0">
              <a:buNone/>
            </a:pPr>
            <a:r>
              <a:rPr lang="en-US" sz="1050">
                <a:solidFill>
                  <a:srgbClr val="9A8A7A"/>
                </a:solidFill>
                <a:latin typeface="Calibri" pitchFamily="34" charset="0"/>
                <a:ea typeface="Calibri" pitchFamily="34" charset="-122"/>
                <a:cs typeface="Calibri" pitchFamily="34" charset="-120"/>
              </a:rPr>
              <a:t>D2C launches us fast. FDA clearance unlocks insurance billing, physician referrals, and recurring medical revenue.</a:t>
            </a:r>
            <a:endParaRPr lang="en-US" sz="1050"/>
          </a:p>
        </p:txBody>
      </p:sp>
      <p:sp>
        <p:nvSpPr>
          <p:cNvPr id="25" name="Shape 19"/>
          <p:cNvSpPr/>
          <p:nvPr/>
        </p:nvSpPr>
        <p:spPr>
          <a:xfrm>
            <a:off x="0" y="4736592"/>
            <a:ext cx="9144000" cy="406908"/>
          </a:xfrm>
          <a:prstGeom prst="rect">
            <a:avLst/>
          </a:prstGeom>
          <a:solidFill>
            <a:srgbClr val="C00000"/>
          </a:solidFill>
          <a:ln w="12700">
            <a:solidFill>
              <a:srgbClr val="E84B25"/>
            </a:solidFill>
            <a:prstDash val="solid"/>
          </a:ln>
        </p:spPr>
        <p:txBody>
          <a:bodyPr/>
          <a:lstStyle/>
          <a:p>
            <a:endParaRPr lang="en-US"/>
          </a:p>
        </p:txBody>
      </p:sp>
      <p:sp>
        <p:nvSpPr>
          <p:cNvPr id="26" name="Text 20"/>
          <p:cNvSpPr/>
          <p:nvPr/>
        </p:nvSpPr>
        <p:spPr>
          <a:xfrm>
            <a:off x="0" y="4736592"/>
            <a:ext cx="9144000" cy="406908"/>
          </a:xfrm>
          <a:prstGeom prst="rect">
            <a:avLst/>
          </a:prstGeom>
          <a:noFill/>
          <a:ln/>
        </p:spPr>
        <p:txBody>
          <a:bodyPr wrap="square" rtlCol="0" anchor="ctr"/>
          <a:lstStyle/>
          <a:p>
            <a:pPr marL="0" indent="0" algn="ctr">
              <a:buNone/>
            </a:pPr>
            <a:r>
              <a:rPr lang="en-US" sz="1500" b="1">
                <a:solidFill>
                  <a:srgbClr val="FFFFFF"/>
                </a:solidFill>
                <a:latin typeface="Arial Black" pitchFamily="34" charset="0"/>
                <a:ea typeface="Arial Black" pitchFamily="34" charset="-122"/>
                <a:cs typeface="Arial Black" pitchFamily="34" charset="-120"/>
              </a:rPr>
              <a:t>Let's keep more hands warm.  Invest in the Hot Rod.</a:t>
            </a:r>
            <a:endParaRPr lang="en-US" sz="15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a:extLst>
            <a:ext uri="{FF2B5EF4-FFF2-40B4-BE49-F238E27FC236}">
              <a16:creationId xmlns:a16="http://schemas.microsoft.com/office/drawing/2014/main" id="{F1EFEB81-543A-FD75-47B7-A0E32555A3D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73DBD4A-E17C-088E-EF59-39C33247E7A8}"/>
              </a:ext>
            </a:extLst>
          </p:cNvPr>
          <p:cNvSpPr/>
          <p:nvPr/>
        </p:nvSpPr>
        <p:spPr>
          <a:xfrm>
            <a:off x="0" y="0"/>
            <a:ext cx="9144000" cy="868680"/>
          </a:xfrm>
          <a:prstGeom prst="rect">
            <a:avLst/>
          </a:prstGeom>
          <a:solidFill>
            <a:srgbClr val="C00000"/>
          </a:solidFill>
          <a:ln w="12700">
            <a:solidFill>
              <a:srgbClr val="0D0D0D"/>
            </a:solidFill>
            <a:prstDash val="solid"/>
          </a:ln>
        </p:spPr>
        <p:txBody>
          <a:bodyPr/>
          <a:lstStyle/>
          <a:p>
            <a:endParaRPr lang="en-US"/>
          </a:p>
        </p:txBody>
      </p:sp>
      <p:sp>
        <p:nvSpPr>
          <p:cNvPr id="4" name="Text 2">
            <a:extLst>
              <a:ext uri="{FF2B5EF4-FFF2-40B4-BE49-F238E27FC236}">
                <a16:creationId xmlns:a16="http://schemas.microsoft.com/office/drawing/2014/main" id="{6EFAE235-D461-2A14-1E69-54CFE5E980E1}"/>
              </a:ext>
            </a:extLst>
          </p:cNvPr>
          <p:cNvSpPr/>
          <p:nvPr/>
        </p:nvSpPr>
        <p:spPr>
          <a:xfrm>
            <a:off x="411480" y="0"/>
            <a:ext cx="8321040" cy="868680"/>
          </a:xfrm>
          <a:prstGeom prst="rect">
            <a:avLst/>
          </a:prstGeom>
          <a:noFill/>
          <a:ln/>
        </p:spPr>
        <p:txBody>
          <a:bodyPr wrap="square" lIns="91440" tIns="45720" rIns="91440" bIns="45720" rtlCol="0" anchor="ctr"/>
          <a:lstStyle/>
          <a:p>
            <a:r>
              <a:rPr lang="en-US" sz="2800" b="1">
                <a:solidFill>
                  <a:srgbClr val="F5F0EB"/>
                </a:solidFill>
                <a:latin typeface="Arial Black"/>
              </a:rPr>
              <a:t>Questions? </a:t>
            </a:r>
            <a:endParaRPr lang="en-US" sz="2800"/>
          </a:p>
        </p:txBody>
      </p:sp>
      <p:sp>
        <p:nvSpPr>
          <p:cNvPr id="25" name="Shape 19">
            <a:extLst>
              <a:ext uri="{FF2B5EF4-FFF2-40B4-BE49-F238E27FC236}">
                <a16:creationId xmlns:a16="http://schemas.microsoft.com/office/drawing/2014/main" id="{08B81B8C-8FCF-8462-FD26-F46653A74F43}"/>
              </a:ext>
            </a:extLst>
          </p:cNvPr>
          <p:cNvSpPr/>
          <p:nvPr/>
        </p:nvSpPr>
        <p:spPr>
          <a:xfrm>
            <a:off x="0" y="4736592"/>
            <a:ext cx="9144000" cy="406908"/>
          </a:xfrm>
          <a:prstGeom prst="rect">
            <a:avLst/>
          </a:prstGeom>
          <a:solidFill>
            <a:srgbClr val="C00000"/>
          </a:solidFill>
          <a:ln w="12700">
            <a:solidFill>
              <a:srgbClr val="E84B25"/>
            </a:solidFill>
            <a:prstDash val="solid"/>
          </a:ln>
        </p:spPr>
        <p:txBody>
          <a:bodyPr/>
          <a:lstStyle/>
          <a:p>
            <a:endParaRPr lang="en-US"/>
          </a:p>
        </p:txBody>
      </p:sp>
      <p:sp>
        <p:nvSpPr>
          <p:cNvPr id="26" name="Text 20">
            <a:extLst>
              <a:ext uri="{FF2B5EF4-FFF2-40B4-BE49-F238E27FC236}">
                <a16:creationId xmlns:a16="http://schemas.microsoft.com/office/drawing/2014/main" id="{940DA747-8012-63D5-E48A-03580890514F}"/>
              </a:ext>
            </a:extLst>
          </p:cNvPr>
          <p:cNvSpPr/>
          <p:nvPr/>
        </p:nvSpPr>
        <p:spPr>
          <a:xfrm>
            <a:off x="0" y="4736592"/>
            <a:ext cx="9144000" cy="406908"/>
          </a:xfrm>
          <a:prstGeom prst="rect">
            <a:avLst/>
          </a:prstGeom>
          <a:noFill/>
          <a:ln/>
        </p:spPr>
        <p:txBody>
          <a:bodyPr wrap="square" rtlCol="0" anchor="ctr"/>
          <a:lstStyle/>
          <a:p>
            <a:pPr marL="0" indent="0" algn="ctr">
              <a:buNone/>
            </a:pPr>
            <a:r>
              <a:rPr lang="en-US" sz="1500" b="1">
                <a:solidFill>
                  <a:srgbClr val="FFFFFF"/>
                </a:solidFill>
                <a:latin typeface="Arial Black" pitchFamily="34" charset="0"/>
                <a:ea typeface="Arial Black" pitchFamily="34" charset="-122"/>
                <a:cs typeface="Arial Black" pitchFamily="34" charset="-120"/>
              </a:rPr>
              <a:t>Let's keep more hands warm.  Invest in the Hot Rod.</a:t>
            </a:r>
            <a:endParaRPr lang="en-US" sz="1500"/>
          </a:p>
        </p:txBody>
      </p:sp>
      <p:sp>
        <p:nvSpPr>
          <p:cNvPr id="3" name="TextBox 2">
            <a:extLst>
              <a:ext uri="{FF2B5EF4-FFF2-40B4-BE49-F238E27FC236}">
                <a16:creationId xmlns:a16="http://schemas.microsoft.com/office/drawing/2014/main" id="{E4DC0E46-BAE1-DFA7-EE5D-D99564E6CD1A}"/>
              </a:ext>
            </a:extLst>
          </p:cNvPr>
          <p:cNvSpPr txBox="1"/>
          <p:nvPr/>
        </p:nvSpPr>
        <p:spPr>
          <a:xfrm>
            <a:off x="3856020" y="301804"/>
            <a:ext cx="5625101" cy="5693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a:solidFill>
                  <a:schemeClr val="bg1"/>
                </a:solidFill>
                <a:latin typeface="Calibri"/>
              </a:rPr>
              <a:t>Joshua </a:t>
            </a:r>
            <a:r>
              <a:rPr lang="en-US" sz="1300" b="0" i="0" u="none" strike="noStrike" baseline="0">
                <a:solidFill>
                  <a:schemeClr val="bg1"/>
                </a:solidFill>
                <a:latin typeface="Calibri"/>
              </a:rPr>
              <a:t>Robinson · </a:t>
            </a:r>
            <a:r>
              <a:rPr lang="en-US" sz="1300">
                <a:solidFill>
                  <a:schemeClr val="bg1"/>
                </a:solidFill>
                <a:latin typeface="Calibri"/>
              </a:rPr>
              <a:t>Yash </a:t>
            </a:r>
            <a:r>
              <a:rPr lang="en-US" sz="1300" b="0" i="0" u="none" strike="noStrike" baseline="0">
                <a:solidFill>
                  <a:schemeClr val="bg1"/>
                </a:solidFill>
                <a:latin typeface="Calibri"/>
              </a:rPr>
              <a:t>Rotkar · </a:t>
            </a:r>
            <a:r>
              <a:rPr lang="en-US" sz="1300">
                <a:solidFill>
                  <a:schemeClr val="bg1"/>
                </a:solidFill>
                <a:latin typeface="Calibri"/>
              </a:rPr>
              <a:t>Mike </a:t>
            </a:r>
            <a:r>
              <a:rPr lang="en-US" sz="1300" b="0" i="0" u="none" strike="noStrike" baseline="0">
                <a:solidFill>
                  <a:schemeClr val="bg1"/>
                </a:solidFill>
                <a:latin typeface="Calibri"/>
              </a:rPr>
              <a:t>Bugden · </a:t>
            </a:r>
            <a:r>
              <a:rPr lang="en-US" sz="1300">
                <a:solidFill>
                  <a:schemeClr val="bg1"/>
                </a:solidFill>
                <a:latin typeface="Calibri"/>
              </a:rPr>
              <a:t>Jacob </a:t>
            </a:r>
            <a:r>
              <a:rPr lang="en-US" sz="1300" b="0" i="0" u="none" strike="noStrike" baseline="0">
                <a:solidFill>
                  <a:schemeClr val="bg1"/>
                </a:solidFill>
                <a:latin typeface="Calibri"/>
              </a:rPr>
              <a:t>Haber · </a:t>
            </a:r>
            <a:r>
              <a:rPr lang="en-US" sz="1300">
                <a:solidFill>
                  <a:schemeClr val="bg1"/>
                </a:solidFill>
                <a:latin typeface="Calibri"/>
              </a:rPr>
              <a:t>David </a:t>
            </a:r>
            <a:r>
              <a:rPr lang="en-US" sz="1300" b="0" i="0" u="none" strike="noStrike" baseline="0">
                <a:solidFill>
                  <a:schemeClr val="bg1"/>
                </a:solidFill>
                <a:latin typeface="Calibri"/>
              </a:rPr>
              <a:t>Mikhaiel</a:t>
            </a:r>
            <a:endParaRPr lang="en-US" sz="1300">
              <a:solidFill>
                <a:schemeClr val="bg1"/>
              </a:solidFill>
              <a:ea typeface="Calibri"/>
              <a:cs typeface="Calibri"/>
            </a:endParaRPr>
          </a:p>
          <a:p>
            <a:pPr algn="ctr"/>
            <a:endParaRPr lang="en-US"/>
          </a:p>
        </p:txBody>
      </p:sp>
      <p:sp>
        <p:nvSpPr>
          <p:cNvPr id="28" name="Shape 3">
            <a:extLst>
              <a:ext uri="{FF2B5EF4-FFF2-40B4-BE49-F238E27FC236}">
                <a16:creationId xmlns:a16="http://schemas.microsoft.com/office/drawing/2014/main" id="{06A6B597-5AD0-CC77-ACAB-D85FD22C09B9}"/>
              </a:ext>
            </a:extLst>
          </p:cNvPr>
          <p:cNvSpPr/>
          <p:nvPr/>
        </p:nvSpPr>
        <p:spPr>
          <a:xfrm>
            <a:off x="178693" y="937774"/>
            <a:ext cx="2651760" cy="1783080"/>
          </a:xfrm>
          <a:prstGeom prst="rect">
            <a:avLst/>
          </a:prstGeom>
          <a:solidFill>
            <a:srgbClr val="1A1A1A"/>
          </a:solidFill>
          <a:ln w="6350">
            <a:solidFill>
              <a:srgbClr val="333333"/>
            </a:solidFill>
            <a:prstDash val="solid"/>
          </a:ln>
          <a:effectLst>
            <a:outerShdw blurRad="101600" dist="38100" dir="8100000" algn="bl" rotWithShape="0">
              <a:srgbClr val="000000">
                <a:alpha val="40000"/>
              </a:srgbClr>
            </a:outerShdw>
          </a:effectLst>
        </p:spPr>
        <p:txBody>
          <a:bodyPr/>
          <a:lstStyle/>
          <a:p>
            <a:endParaRPr lang="en-US"/>
          </a:p>
        </p:txBody>
      </p:sp>
      <p:sp>
        <p:nvSpPr>
          <p:cNvPr id="30" name="Shape 4">
            <a:extLst>
              <a:ext uri="{FF2B5EF4-FFF2-40B4-BE49-F238E27FC236}">
                <a16:creationId xmlns:a16="http://schemas.microsoft.com/office/drawing/2014/main" id="{9077D7BC-02AB-B8C7-0B82-7F4E6FCEF091}"/>
              </a:ext>
            </a:extLst>
          </p:cNvPr>
          <p:cNvSpPr/>
          <p:nvPr/>
        </p:nvSpPr>
        <p:spPr>
          <a:xfrm>
            <a:off x="178693" y="937774"/>
            <a:ext cx="64008" cy="1783080"/>
          </a:xfrm>
          <a:prstGeom prst="rect">
            <a:avLst/>
          </a:prstGeom>
          <a:solidFill>
            <a:srgbClr val="E0571A"/>
          </a:solidFill>
          <a:ln w="12700">
            <a:solidFill>
              <a:srgbClr val="E0571A"/>
            </a:solidFill>
            <a:prstDash val="solid"/>
          </a:ln>
        </p:spPr>
        <p:txBody>
          <a:bodyPr/>
          <a:lstStyle/>
          <a:p>
            <a:endParaRPr lang="en-US"/>
          </a:p>
        </p:txBody>
      </p:sp>
      <p:sp>
        <p:nvSpPr>
          <p:cNvPr id="32" name="Text 5">
            <a:extLst>
              <a:ext uri="{FF2B5EF4-FFF2-40B4-BE49-F238E27FC236}">
                <a16:creationId xmlns:a16="http://schemas.microsoft.com/office/drawing/2014/main" id="{BAF37A4E-5EF6-37A4-FB66-0633A2F7F205}"/>
              </a:ext>
            </a:extLst>
          </p:cNvPr>
          <p:cNvSpPr/>
          <p:nvPr/>
        </p:nvSpPr>
        <p:spPr>
          <a:xfrm>
            <a:off x="343285" y="1029214"/>
            <a:ext cx="2423160" cy="594360"/>
          </a:xfrm>
          <a:prstGeom prst="rect">
            <a:avLst/>
          </a:prstGeom>
          <a:noFill/>
          <a:ln/>
        </p:spPr>
        <p:txBody>
          <a:bodyPr wrap="square" lIns="0" tIns="0" rIns="0" bIns="0" rtlCol="0" anchor="ctr"/>
          <a:lstStyle/>
          <a:p>
            <a:pPr marL="0" indent="0">
              <a:buNone/>
            </a:pPr>
            <a:r>
              <a:rPr lang="en-US" sz="3400" b="1">
                <a:solidFill>
                  <a:srgbClr val="E0571A"/>
                </a:solidFill>
                <a:latin typeface="Arial Black" pitchFamily="34" charset="0"/>
                <a:ea typeface="Arial Black" pitchFamily="34" charset="-122"/>
                <a:cs typeface="Arial Black" pitchFamily="34" charset="-120"/>
              </a:rPr>
              <a:t>3–5%</a:t>
            </a:r>
            <a:endParaRPr lang="en-US" sz="3400"/>
          </a:p>
        </p:txBody>
      </p:sp>
      <p:sp>
        <p:nvSpPr>
          <p:cNvPr id="34" name="Text 6">
            <a:extLst>
              <a:ext uri="{FF2B5EF4-FFF2-40B4-BE49-F238E27FC236}">
                <a16:creationId xmlns:a16="http://schemas.microsoft.com/office/drawing/2014/main" id="{3B82524D-F113-30B4-13F2-D9B4DF24DBFE}"/>
              </a:ext>
            </a:extLst>
          </p:cNvPr>
          <p:cNvSpPr/>
          <p:nvPr/>
        </p:nvSpPr>
        <p:spPr>
          <a:xfrm>
            <a:off x="343285" y="1596142"/>
            <a:ext cx="2395728" cy="384048"/>
          </a:xfrm>
          <a:prstGeom prst="rect">
            <a:avLst/>
          </a:prstGeom>
          <a:noFill/>
          <a:ln/>
        </p:spPr>
        <p:txBody>
          <a:bodyPr wrap="square" lIns="0" tIns="0" rIns="0" bIns="0" rtlCol="0" anchor="ctr"/>
          <a:lstStyle/>
          <a:p>
            <a:pPr marL="0" indent="0">
              <a:buNone/>
            </a:pPr>
            <a:r>
              <a:rPr lang="en-US" sz="1200">
                <a:solidFill>
                  <a:srgbClr val="DDDDDD"/>
                </a:solidFill>
                <a:latin typeface="Calibri" pitchFamily="34" charset="0"/>
                <a:ea typeface="Calibri" pitchFamily="34" charset="-122"/>
                <a:cs typeface="Calibri" pitchFamily="34" charset="-120"/>
              </a:rPr>
              <a:t>of the population has Raynaud's Syndrome</a:t>
            </a:r>
            <a:endParaRPr lang="en-US" sz="1200"/>
          </a:p>
        </p:txBody>
      </p:sp>
      <p:sp>
        <p:nvSpPr>
          <p:cNvPr id="36" name="Text 7">
            <a:extLst>
              <a:ext uri="{FF2B5EF4-FFF2-40B4-BE49-F238E27FC236}">
                <a16:creationId xmlns:a16="http://schemas.microsoft.com/office/drawing/2014/main" id="{9AAFE822-2D0B-6255-D6D7-831B386A02E1}"/>
              </a:ext>
            </a:extLst>
          </p:cNvPr>
          <p:cNvSpPr/>
          <p:nvPr/>
        </p:nvSpPr>
        <p:spPr>
          <a:xfrm>
            <a:off x="343285" y="1989334"/>
            <a:ext cx="2395728" cy="438912"/>
          </a:xfrm>
          <a:prstGeom prst="rect">
            <a:avLst/>
          </a:prstGeom>
          <a:noFill/>
          <a:ln/>
        </p:spPr>
        <p:txBody>
          <a:bodyPr wrap="square" lIns="0" tIns="0" rIns="0" bIns="0" rtlCol="0" anchor="ctr"/>
          <a:lstStyle/>
          <a:p>
            <a:pPr marL="0" indent="0">
              <a:buNone/>
            </a:pPr>
            <a:r>
              <a:rPr lang="en-US" sz="1000" i="1">
                <a:solidFill>
                  <a:srgbClr val="999999"/>
                </a:solidFill>
                <a:latin typeface="Calibri" pitchFamily="34" charset="0"/>
                <a:ea typeface="Calibri" pitchFamily="34" charset="-122"/>
                <a:cs typeface="Calibri" pitchFamily="34" charset="-120"/>
              </a:rPr>
              <a:t>+ Millions more with cold hands, Raynaud's Phenomenon &amp; autoimmune conditions</a:t>
            </a:r>
            <a:endParaRPr lang="en-US" sz="1000"/>
          </a:p>
        </p:txBody>
      </p:sp>
      <p:sp>
        <p:nvSpPr>
          <p:cNvPr id="38" name="Shape 8">
            <a:extLst>
              <a:ext uri="{FF2B5EF4-FFF2-40B4-BE49-F238E27FC236}">
                <a16:creationId xmlns:a16="http://schemas.microsoft.com/office/drawing/2014/main" id="{45EB8872-BCC7-0AA5-0763-8EC9FDA86029}"/>
              </a:ext>
            </a:extLst>
          </p:cNvPr>
          <p:cNvSpPr/>
          <p:nvPr/>
        </p:nvSpPr>
        <p:spPr>
          <a:xfrm>
            <a:off x="3223645" y="937774"/>
            <a:ext cx="2651760" cy="1783080"/>
          </a:xfrm>
          <a:prstGeom prst="rect">
            <a:avLst/>
          </a:prstGeom>
          <a:solidFill>
            <a:srgbClr val="1A1A1A"/>
          </a:solidFill>
          <a:ln w="6350">
            <a:solidFill>
              <a:srgbClr val="333333"/>
            </a:solidFill>
            <a:prstDash val="solid"/>
          </a:ln>
          <a:effectLst>
            <a:outerShdw blurRad="101600" dist="38100" dir="8100000" algn="bl" rotWithShape="0">
              <a:srgbClr val="000000">
                <a:alpha val="40000"/>
              </a:srgbClr>
            </a:outerShdw>
          </a:effectLst>
        </p:spPr>
        <p:txBody>
          <a:bodyPr/>
          <a:lstStyle/>
          <a:p>
            <a:endParaRPr lang="en-US"/>
          </a:p>
        </p:txBody>
      </p:sp>
      <p:sp>
        <p:nvSpPr>
          <p:cNvPr id="40" name="Shape 9">
            <a:extLst>
              <a:ext uri="{FF2B5EF4-FFF2-40B4-BE49-F238E27FC236}">
                <a16:creationId xmlns:a16="http://schemas.microsoft.com/office/drawing/2014/main" id="{6848E3B3-BCCA-1B32-9BA8-42DD2338DBD9}"/>
              </a:ext>
            </a:extLst>
          </p:cNvPr>
          <p:cNvSpPr/>
          <p:nvPr/>
        </p:nvSpPr>
        <p:spPr>
          <a:xfrm>
            <a:off x="3223645" y="937774"/>
            <a:ext cx="64008" cy="1783080"/>
          </a:xfrm>
          <a:prstGeom prst="rect">
            <a:avLst/>
          </a:prstGeom>
          <a:solidFill>
            <a:srgbClr val="00A896"/>
          </a:solidFill>
          <a:ln w="12700">
            <a:solidFill>
              <a:srgbClr val="00A896"/>
            </a:solidFill>
            <a:prstDash val="solid"/>
          </a:ln>
        </p:spPr>
        <p:txBody>
          <a:bodyPr/>
          <a:lstStyle/>
          <a:p>
            <a:endParaRPr lang="en-US"/>
          </a:p>
        </p:txBody>
      </p:sp>
      <p:sp>
        <p:nvSpPr>
          <p:cNvPr id="42" name="Text 10">
            <a:extLst>
              <a:ext uri="{FF2B5EF4-FFF2-40B4-BE49-F238E27FC236}">
                <a16:creationId xmlns:a16="http://schemas.microsoft.com/office/drawing/2014/main" id="{56B975FF-06FE-CB97-5BBB-D125E9409AA3}"/>
              </a:ext>
            </a:extLst>
          </p:cNvPr>
          <p:cNvSpPr/>
          <p:nvPr/>
        </p:nvSpPr>
        <p:spPr>
          <a:xfrm>
            <a:off x="3388237" y="1029214"/>
            <a:ext cx="2395728" cy="475488"/>
          </a:xfrm>
          <a:prstGeom prst="rect">
            <a:avLst/>
          </a:prstGeom>
          <a:noFill/>
          <a:ln/>
        </p:spPr>
        <p:txBody>
          <a:bodyPr wrap="square" lIns="0" tIns="0" rIns="0" bIns="0" rtlCol="0" anchor="ctr"/>
          <a:lstStyle/>
          <a:p>
            <a:pPr marL="0" indent="0">
              <a:buNone/>
            </a:pPr>
            <a:r>
              <a:rPr lang="en-US" sz="2000" b="1">
                <a:solidFill>
                  <a:srgbClr val="00A896"/>
                </a:solidFill>
                <a:latin typeface="Arial Black" pitchFamily="34" charset="0"/>
                <a:ea typeface="Arial Black" pitchFamily="34" charset="-122"/>
                <a:cs typeface="Arial Black" pitchFamily="34" charset="-120"/>
              </a:rPr>
              <a:t>Doctor Approved</a:t>
            </a:r>
            <a:endParaRPr lang="en-US" sz="2000"/>
          </a:p>
        </p:txBody>
      </p:sp>
      <p:sp>
        <p:nvSpPr>
          <p:cNvPr id="44" name="Text 11">
            <a:extLst>
              <a:ext uri="{FF2B5EF4-FFF2-40B4-BE49-F238E27FC236}">
                <a16:creationId xmlns:a16="http://schemas.microsoft.com/office/drawing/2014/main" id="{EBF30B9A-CA1D-3117-43B5-E679B46EA5DE}"/>
              </a:ext>
            </a:extLst>
          </p:cNvPr>
          <p:cNvSpPr/>
          <p:nvPr/>
        </p:nvSpPr>
        <p:spPr>
          <a:xfrm>
            <a:off x="3388237" y="1504702"/>
            <a:ext cx="2395728" cy="566928"/>
          </a:xfrm>
          <a:prstGeom prst="rect">
            <a:avLst/>
          </a:prstGeom>
          <a:noFill/>
          <a:ln/>
        </p:spPr>
        <p:txBody>
          <a:bodyPr wrap="square" lIns="0" tIns="0" rIns="0" bIns="0" rtlCol="0" anchor="ctr"/>
          <a:lstStyle/>
          <a:p>
            <a:pPr marL="0" indent="0">
              <a:buNone/>
            </a:pPr>
            <a:r>
              <a:rPr lang="en-US" sz="1100" i="1">
                <a:solidFill>
                  <a:srgbClr val="CCCCCC"/>
                </a:solidFill>
                <a:latin typeface="Calibri" pitchFamily="34" charset="0"/>
                <a:ea typeface="Calibri" pitchFamily="34" charset="-122"/>
                <a:cs typeface="Calibri" pitchFamily="34" charset="-120"/>
              </a:rPr>
              <a:t>"Current solutions are not localized enough to the problem."</a:t>
            </a:r>
            <a:endParaRPr lang="en-US" sz="1100"/>
          </a:p>
        </p:txBody>
      </p:sp>
      <p:sp>
        <p:nvSpPr>
          <p:cNvPr id="46" name="Text 12">
            <a:extLst>
              <a:ext uri="{FF2B5EF4-FFF2-40B4-BE49-F238E27FC236}">
                <a16:creationId xmlns:a16="http://schemas.microsoft.com/office/drawing/2014/main" id="{93BFA87D-70DE-84FA-1C4D-396A2200EE81}"/>
              </a:ext>
            </a:extLst>
          </p:cNvPr>
          <p:cNvSpPr/>
          <p:nvPr/>
        </p:nvSpPr>
        <p:spPr>
          <a:xfrm>
            <a:off x="3388237" y="2108206"/>
            <a:ext cx="2395728" cy="274320"/>
          </a:xfrm>
          <a:prstGeom prst="rect">
            <a:avLst/>
          </a:prstGeom>
          <a:noFill/>
          <a:ln/>
        </p:spPr>
        <p:txBody>
          <a:bodyPr wrap="square" lIns="0" tIns="0" rIns="0" bIns="0" rtlCol="0" anchor="ctr"/>
          <a:lstStyle/>
          <a:p>
            <a:pPr marL="0" indent="0">
              <a:buNone/>
            </a:pPr>
            <a:r>
              <a:rPr lang="en-US" sz="1000" b="1">
                <a:solidFill>
                  <a:srgbClr val="00A896"/>
                </a:solidFill>
                <a:latin typeface="Calibri" pitchFamily="34" charset="0"/>
                <a:ea typeface="Calibri" pitchFamily="34" charset="-122"/>
                <a:cs typeface="Calibri" pitchFamily="34" charset="-120"/>
              </a:rPr>
              <a:t>— Dr. Syed Sajjad, M.D.</a:t>
            </a:r>
            <a:endParaRPr lang="en-US" sz="1000"/>
          </a:p>
        </p:txBody>
      </p:sp>
      <p:sp>
        <p:nvSpPr>
          <p:cNvPr id="48" name="Shape 13">
            <a:extLst>
              <a:ext uri="{FF2B5EF4-FFF2-40B4-BE49-F238E27FC236}">
                <a16:creationId xmlns:a16="http://schemas.microsoft.com/office/drawing/2014/main" id="{FD113DE7-0640-30E3-AFA0-A4E88B9C7C1F}"/>
              </a:ext>
            </a:extLst>
          </p:cNvPr>
          <p:cNvSpPr/>
          <p:nvPr/>
        </p:nvSpPr>
        <p:spPr>
          <a:xfrm>
            <a:off x="6259453" y="937774"/>
            <a:ext cx="2651760" cy="1783080"/>
          </a:xfrm>
          <a:prstGeom prst="rect">
            <a:avLst/>
          </a:prstGeom>
          <a:solidFill>
            <a:srgbClr val="1A1A1A"/>
          </a:solidFill>
          <a:ln w="6350">
            <a:solidFill>
              <a:srgbClr val="333333"/>
            </a:solidFill>
            <a:prstDash val="solid"/>
          </a:ln>
          <a:effectLst>
            <a:outerShdw blurRad="101600" dist="38100" dir="8100000" algn="bl" rotWithShape="0">
              <a:srgbClr val="000000">
                <a:alpha val="40000"/>
              </a:srgbClr>
            </a:outerShdw>
          </a:effectLst>
        </p:spPr>
        <p:txBody>
          <a:bodyPr/>
          <a:lstStyle/>
          <a:p>
            <a:endParaRPr lang="en-US"/>
          </a:p>
        </p:txBody>
      </p:sp>
      <p:sp>
        <p:nvSpPr>
          <p:cNvPr id="50" name="Shape 14">
            <a:extLst>
              <a:ext uri="{FF2B5EF4-FFF2-40B4-BE49-F238E27FC236}">
                <a16:creationId xmlns:a16="http://schemas.microsoft.com/office/drawing/2014/main" id="{B69E9225-0324-61AA-D07B-190B68253EA4}"/>
              </a:ext>
            </a:extLst>
          </p:cNvPr>
          <p:cNvSpPr/>
          <p:nvPr/>
        </p:nvSpPr>
        <p:spPr>
          <a:xfrm>
            <a:off x="6259453" y="937774"/>
            <a:ext cx="64008" cy="1783080"/>
          </a:xfrm>
          <a:prstGeom prst="rect">
            <a:avLst/>
          </a:prstGeom>
          <a:solidFill>
            <a:srgbClr val="E0571A"/>
          </a:solidFill>
          <a:ln w="12700">
            <a:solidFill>
              <a:srgbClr val="E0571A"/>
            </a:solidFill>
            <a:prstDash val="solid"/>
          </a:ln>
        </p:spPr>
        <p:txBody>
          <a:bodyPr/>
          <a:lstStyle/>
          <a:p>
            <a:endParaRPr lang="en-US"/>
          </a:p>
        </p:txBody>
      </p:sp>
      <p:sp>
        <p:nvSpPr>
          <p:cNvPr id="52" name="Text 15">
            <a:extLst>
              <a:ext uri="{FF2B5EF4-FFF2-40B4-BE49-F238E27FC236}">
                <a16:creationId xmlns:a16="http://schemas.microsoft.com/office/drawing/2014/main" id="{EDAC521A-2975-01F2-0403-9395554FB3F1}"/>
              </a:ext>
            </a:extLst>
          </p:cNvPr>
          <p:cNvSpPr/>
          <p:nvPr/>
        </p:nvSpPr>
        <p:spPr>
          <a:xfrm>
            <a:off x="6424045" y="1029214"/>
            <a:ext cx="2395728" cy="475488"/>
          </a:xfrm>
          <a:prstGeom prst="rect">
            <a:avLst/>
          </a:prstGeom>
          <a:noFill/>
          <a:ln/>
        </p:spPr>
        <p:txBody>
          <a:bodyPr wrap="square" lIns="0" tIns="0" rIns="0" bIns="0" rtlCol="0" anchor="ctr"/>
          <a:lstStyle/>
          <a:p>
            <a:pPr marL="0" indent="0">
              <a:buNone/>
            </a:pPr>
            <a:r>
              <a:rPr lang="en-US" sz="2000" b="1">
                <a:solidFill>
                  <a:srgbClr val="E0571A"/>
                </a:solidFill>
                <a:latin typeface="Arial Black" pitchFamily="34" charset="0"/>
                <a:ea typeface="Arial Black" pitchFamily="34" charset="-122"/>
                <a:cs typeface="Arial Black" pitchFamily="34" charset="-120"/>
              </a:rPr>
              <a:t>3 Real Interviews</a:t>
            </a:r>
            <a:endParaRPr lang="en-US" sz="2000"/>
          </a:p>
        </p:txBody>
      </p:sp>
      <p:sp>
        <p:nvSpPr>
          <p:cNvPr id="54" name="Text 16">
            <a:extLst>
              <a:ext uri="{FF2B5EF4-FFF2-40B4-BE49-F238E27FC236}">
                <a16:creationId xmlns:a16="http://schemas.microsoft.com/office/drawing/2014/main" id="{60DC1DBA-EA2C-62F1-DA1F-A837396EDD6E}"/>
              </a:ext>
            </a:extLst>
          </p:cNvPr>
          <p:cNvSpPr/>
          <p:nvPr/>
        </p:nvSpPr>
        <p:spPr>
          <a:xfrm>
            <a:off x="6424045" y="1588180"/>
            <a:ext cx="2395728" cy="384048"/>
          </a:xfrm>
          <a:prstGeom prst="rect">
            <a:avLst/>
          </a:prstGeom>
          <a:noFill/>
          <a:ln/>
        </p:spPr>
        <p:txBody>
          <a:bodyPr wrap="square" lIns="0" tIns="0" rIns="0" bIns="0" rtlCol="0" anchor="ctr"/>
          <a:lstStyle/>
          <a:p>
            <a:pPr marL="0" indent="0">
              <a:buNone/>
            </a:pPr>
            <a:r>
              <a:rPr lang="en-US" sz="1100">
                <a:solidFill>
                  <a:srgbClr val="CCCCCC"/>
                </a:solidFill>
                <a:latin typeface="Calibri" pitchFamily="34" charset="0"/>
                <a:ea typeface="Calibri" pitchFamily="34" charset="-122"/>
                <a:cs typeface="Calibri" pitchFamily="34" charset="-120"/>
              </a:rPr>
              <a:t>Raynaud's patient · Elderly home user · College student</a:t>
            </a:r>
            <a:endParaRPr lang="en-US" sz="1100"/>
          </a:p>
        </p:txBody>
      </p:sp>
      <p:sp>
        <p:nvSpPr>
          <p:cNvPr id="56" name="Text 17">
            <a:extLst>
              <a:ext uri="{FF2B5EF4-FFF2-40B4-BE49-F238E27FC236}">
                <a16:creationId xmlns:a16="http://schemas.microsoft.com/office/drawing/2014/main" id="{7319A41D-8C11-1031-810C-93A12C00FC19}"/>
              </a:ext>
            </a:extLst>
          </p:cNvPr>
          <p:cNvSpPr/>
          <p:nvPr/>
        </p:nvSpPr>
        <p:spPr>
          <a:xfrm>
            <a:off x="6424045" y="1970763"/>
            <a:ext cx="2395728" cy="475488"/>
          </a:xfrm>
          <a:prstGeom prst="rect">
            <a:avLst/>
          </a:prstGeom>
          <a:noFill/>
          <a:ln/>
        </p:spPr>
        <p:txBody>
          <a:bodyPr wrap="square" lIns="0" tIns="0" rIns="0" bIns="0" rtlCol="0" anchor="ctr"/>
          <a:lstStyle/>
          <a:p>
            <a:r>
              <a:rPr lang="en-US" sz="1000" i="1">
                <a:solidFill>
                  <a:srgbClr val="999999"/>
                </a:solidFill>
                <a:latin typeface="Calibri"/>
                <a:ea typeface="Calibri"/>
                <a:cs typeface="Calibri"/>
              </a:rPr>
              <a:t>Every single one had flaws or stopped working to rewarm their hands. Unmet need confirmed.</a:t>
            </a:r>
            <a:endParaRPr lang="en-US" sz="1000">
              <a:latin typeface="Calibri"/>
              <a:ea typeface="Calibri"/>
              <a:cs typeface="Calibri"/>
            </a:endParaRPr>
          </a:p>
        </p:txBody>
      </p:sp>
      <p:sp>
        <p:nvSpPr>
          <p:cNvPr id="58" name="Shape 18">
            <a:extLst>
              <a:ext uri="{FF2B5EF4-FFF2-40B4-BE49-F238E27FC236}">
                <a16:creationId xmlns:a16="http://schemas.microsoft.com/office/drawing/2014/main" id="{BF16F368-680A-AE82-C58D-C7E5F2741670}"/>
              </a:ext>
            </a:extLst>
          </p:cNvPr>
          <p:cNvSpPr/>
          <p:nvPr/>
        </p:nvSpPr>
        <p:spPr>
          <a:xfrm>
            <a:off x="178693" y="2839726"/>
            <a:ext cx="2651760" cy="1783080"/>
          </a:xfrm>
          <a:prstGeom prst="rect">
            <a:avLst/>
          </a:prstGeom>
          <a:solidFill>
            <a:srgbClr val="1A1A1A"/>
          </a:solidFill>
          <a:ln w="6350">
            <a:solidFill>
              <a:srgbClr val="333333"/>
            </a:solidFill>
            <a:prstDash val="solid"/>
          </a:ln>
          <a:effectLst>
            <a:outerShdw blurRad="101600" dist="38100" dir="8100000" algn="bl" rotWithShape="0">
              <a:srgbClr val="000000">
                <a:alpha val="40000"/>
              </a:srgbClr>
            </a:outerShdw>
          </a:effectLst>
        </p:spPr>
        <p:txBody>
          <a:bodyPr/>
          <a:lstStyle/>
          <a:p>
            <a:endParaRPr lang="en-US"/>
          </a:p>
        </p:txBody>
      </p:sp>
      <p:sp>
        <p:nvSpPr>
          <p:cNvPr id="60" name="Shape 19">
            <a:extLst>
              <a:ext uri="{FF2B5EF4-FFF2-40B4-BE49-F238E27FC236}">
                <a16:creationId xmlns:a16="http://schemas.microsoft.com/office/drawing/2014/main" id="{C2E2A8AF-F1E3-67CB-19F1-8FA5A511F522}"/>
              </a:ext>
            </a:extLst>
          </p:cNvPr>
          <p:cNvSpPr/>
          <p:nvPr/>
        </p:nvSpPr>
        <p:spPr>
          <a:xfrm>
            <a:off x="178693" y="2839726"/>
            <a:ext cx="64008" cy="1783080"/>
          </a:xfrm>
          <a:prstGeom prst="rect">
            <a:avLst/>
          </a:prstGeom>
          <a:solidFill>
            <a:srgbClr val="00A896"/>
          </a:solidFill>
          <a:ln w="12700">
            <a:solidFill>
              <a:srgbClr val="00A896"/>
            </a:solidFill>
            <a:prstDash val="solid"/>
          </a:ln>
        </p:spPr>
        <p:txBody>
          <a:bodyPr/>
          <a:lstStyle/>
          <a:p>
            <a:endParaRPr lang="en-US"/>
          </a:p>
        </p:txBody>
      </p:sp>
      <p:sp>
        <p:nvSpPr>
          <p:cNvPr id="62" name="Text 20">
            <a:extLst>
              <a:ext uri="{FF2B5EF4-FFF2-40B4-BE49-F238E27FC236}">
                <a16:creationId xmlns:a16="http://schemas.microsoft.com/office/drawing/2014/main" id="{759C7711-E9FC-F464-876C-F7828202D5DD}"/>
              </a:ext>
            </a:extLst>
          </p:cNvPr>
          <p:cNvSpPr/>
          <p:nvPr/>
        </p:nvSpPr>
        <p:spPr>
          <a:xfrm>
            <a:off x="343285" y="2931166"/>
            <a:ext cx="2395728" cy="475488"/>
          </a:xfrm>
          <a:prstGeom prst="rect">
            <a:avLst/>
          </a:prstGeom>
          <a:noFill/>
          <a:ln/>
        </p:spPr>
        <p:txBody>
          <a:bodyPr wrap="square" lIns="0" tIns="0" rIns="0" bIns="0" rtlCol="0" anchor="ctr"/>
          <a:lstStyle/>
          <a:p>
            <a:r>
              <a:rPr lang="en-US" sz="2000" b="1">
                <a:solidFill>
                  <a:srgbClr val="00A896"/>
                </a:solidFill>
                <a:latin typeface="Arial Black"/>
                <a:ea typeface="Arial Black" pitchFamily="34" charset="-122"/>
                <a:cs typeface="Arial Black" pitchFamily="34" charset="-120"/>
              </a:rPr>
              <a:t>v3 Hot Rod</a:t>
            </a:r>
            <a:endParaRPr lang="en-US" sz="2000"/>
          </a:p>
        </p:txBody>
      </p:sp>
      <p:sp>
        <p:nvSpPr>
          <p:cNvPr id="64" name="Text 21">
            <a:extLst>
              <a:ext uri="{FF2B5EF4-FFF2-40B4-BE49-F238E27FC236}">
                <a16:creationId xmlns:a16="http://schemas.microsoft.com/office/drawing/2014/main" id="{63F2FAB7-8E17-6A51-2700-17D739B60C28}"/>
              </a:ext>
            </a:extLst>
          </p:cNvPr>
          <p:cNvSpPr/>
          <p:nvPr/>
        </p:nvSpPr>
        <p:spPr>
          <a:xfrm>
            <a:off x="343285" y="3406654"/>
            <a:ext cx="2395728" cy="347472"/>
          </a:xfrm>
          <a:prstGeom prst="rect">
            <a:avLst/>
          </a:prstGeom>
          <a:noFill/>
          <a:ln/>
        </p:spPr>
        <p:txBody>
          <a:bodyPr wrap="square" lIns="0" tIns="0" rIns="0" bIns="0" rtlCol="0" anchor="ctr"/>
          <a:lstStyle/>
          <a:p>
            <a:pPr marL="0" indent="0">
              <a:buNone/>
            </a:pPr>
            <a:r>
              <a:rPr lang="en-US" sz="1100">
                <a:solidFill>
                  <a:srgbClr val="CCCCCC"/>
                </a:solidFill>
                <a:latin typeface="Calibri" pitchFamily="34" charset="0"/>
                <a:ea typeface="Calibri" pitchFamily="34" charset="-122"/>
                <a:cs typeface="Calibri" pitchFamily="34" charset="-120"/>
              </a:rPr>
              <a:t>3 design iterations → enclosed fan system</a:t>
            </a:r>
            <a:endParaRPr lang="en-US" sz="1100"/>
          </a:p>
        </p:txBody>
      </p:sp>
      <p:sp>
        <p:nvSpPr>
          <p:cNvPr id="66" name="Text 22">
            <a:extLst>
              <a:ext uri="{FF2B5EF4-FFF2-40B4-BE49-F238E27FC236}">
                <a16:creationId xmlns:a16="http://schemas.microsoft.com/office/drawing/2014/main" id="{CE0A03A5-1493-5321-7D00-494E96960261}"/>
              </a:ext>
            </a:extLst>
          </p:cNvPr>
          <p:cNvSpPr/>
          <p:nvPr/>
        </p:nvSpPr>
        <p:spPr>
          <a:xfrm>
            <a:off x="343285" y="3781558"/>
            <a:ext cx="2395728" cy="502920"/>
          </a:xfrm>
          <a:prstGeom prst="rect">
            <a:avLst/>
          </a:prstGeom>
          <a:noFill/>
          <a:ln/>
        </p:spPr>
        <p:txBody>
          <a:bodyPr wrap="square" lIns="0" tIns="0" rIns="0" bIns="0" rtlCol="0" anchor="ctr"/>
          <a:lstStyle/>
          <a:p>
            <a:pPr marL="0" indent="0">
              <a:buNone/>
            </a:pPr>
            <a:r>
              <a:rPr lang="en-US" sz="1000" i="1">
                <a:solidFill>
                  <a:srgbClr val="999999"/>
                </a:solidFill>
                <a:latin typeface="Calibri" pitchFamily="34" charset="0"/>
                <a:ea typeface="Calibri" pitchFamily="34" charset="-122"/>
                <a:cs typeface="Calibri" pitchFamily="34" charset="-120"/>
              </a:rPr>
              <a:t>Zero burn risk. Temperature dial. Adjustable fit. Production-ready.</a:t>
            </a:r>
            <a:endParaRPr lang="en-US" sz="1000"/>
          </a:p>
        </p:txBody>
      </p:sp>
      <p:sp>
        <p:nvSpPr>
          <p:cNvPr id="68" name="Shape 23">
            <a:extLst>
              <a:ext uri="{FF2B5EF4-FFF2-40B4-BE49-F238E27FC236}">
                <a16:creationId xmlns:a16="http://schemas.microsoft.com/office/drawing/2014/main" id="{7D749F05-8509-79FB-2F9E-FE2A52649E6C}"/>
              </a:ext>
            </a:extLst>
          </p:cNvPr>
          <p:cNvSpPr/>
          <p:nvPr/>
        </p:nvSpPr>
        <p:spPr>
          <a:xfrm>
            <a:off x="3223645" y="2839726"/>
            <a:ext cx="2651760" cy="1783080"/>
          </a:xfrm>
          <a:prstGeom prst="rect">
            <a:avLst/>
          </a:prstGeom>
          <a:solidFill>
            <a:srgbClr val="1A1A1A"/>
          </a:solidFill>
          <a:ln w="6350">
            <a:solidFill>
              <a:srgbClr val="333333"/>
            </a:solidFill>
            <a:prstDash val="solid"/>
          </a:ln>
          <a:effectLst>
            <a:outerShdw blurRad="101600" dist="38100" dir="8100000" algn="bl" rotWithShape="0">
              <a:srgbClr val="000000">
                <a:alpha val="40000"/>
              </a:srgbClr>
            </a:outerShdw>
          </a:effectLst>
        </p:spPr>
        <p:txBody>
          <a:bodyPr/>
          <a:lstStyle/>
          <a:p>
            <a:endParaRPr lang="en-US"/>
          </a:p>
        </p:txBody>
      </p:sp>
      <p:sp>
        <p:nvSpPr>
          <p:cNvPr id="70" name="Shape 24">
            <a:extLst>
              <a:ext uri="{FF2B5EF4-FFF2-40B4-BE49-F238E27FC236}">
                <a16:creationId xmlns:a16="http://schemas.microsoft.com/office/drawing/2014/main" id="{6DF1D6CC-4DE7-A39A-5D68-1583830FC903}"/>
              </a:ext>
            </a:extLst>
          </p:cNvPr>
          <p:cNvSpPr/>
          <p:nvPr/>
        </p:nvSpPr>
        <p:spPr>
          <a:xfrm>
            <a:off x="3223645" y="2839726"/>
            <a:ext cx="64008" cy="1783080"/>
          </a:xfrm>
          <a:prstGeom prst="rect">
            <a:avLst/>
          </a:prstGeom>
          <a:solidFill>
            <a:srgbClr val="E0571A"/>
          </a:solidFill>
          <a:ln w="12700">
            <a:solidFill>
              <a:srgbClr val="E0571A"/>
            </a:solidFill>
            <a:prstDash val="solid"/>
          </a:ln>
        </p:spPr>
        <p:txBody>
          <a:bodyPr/>
          <a:lstStyle/>
          <a:p>
            <a:endParaRPr lang="en-US"/>
          </a:p>
        </p:txBody>
      </p:sp>
      <p:sp>
        <p:nvSpPr>
          <p:cNvPr id="72" name="Text 25">
            <a:extLst>
              <a:ext uri="{FF2B5EF4-FFF2-40B4-BE49-F238E27FC236}">
                <a16:creationId xmlns:a16="http://schemas.microsoft.com/office/drawing/2014/main" id="{0986D66E-0ED7-BE18-1A18-FD5048247D2A}"/>
              </a:ext>
            </a:extLst>
          </p:cNvPr>
          <p:cNvSpPr/>
          <p:nvPr/>
        </p:nvSpPr>
        <p:spPr>
          <a:xfrm>
            <a:off x="3388237" y="2931166"/>
            <a:ext cx="2395728" cy="475488"/>
          </a:xfrm>
          <a:prstGeom prst="rect">
            <a:avLst/>
          </a:prstGeom>
          <a:noFill/>
          <a:ln/>
        </p:spPr>
        <p:txBody>
          <a:bodyPr wrap="square" lIns="0" tIns="0" rIns="0" bIns="0" rtlCol="0" anchor="ctr"/>
          <a:lstStyle/>
          <a:p>
            <a:pPr marL="0" indent="0">
              <a:buNone/>
            </a:pPr>
            <a:r>
              <a:rPr lang="en-US" sz="2000" b="1">
                <a:solidFill>
                  <a:srgbClr val="E0571A"/>
                </a:solidFill>
                <a:latin typeface="Arial Black" pitchFamily="34" charset="0"/>
                <a:ea typeface="Arial Black" pitchFamily="34" charset="-122"/>
                <a:cs typeface="Arial Black" pitchFamily="34" charset="-120"/>
              </a:rPr>
              <a:t>Dual Revenue Path</a:t>
            </a:r>
            <a:endParaRPr lang="en-US" sz="2000"/>
          </a:p>
        </p:txBody>
      </p:sp>
      <p:sp>
        <p:nvSpPr>
          <p:cNvPr id="74" name="Text 26">
            <a:extLst>
              <a:ext uri="{FF2B5EF4-FFF2-40B4-BE49-F238E27FC236}">
                <a16:creationId xmlns:a16="http://schemas.microsoft.com/office/drawing/2014/main" id="{B61FD801-5ACC-995D-2FBC-F8CB719C5FA7}"/>
              </a:ext>
            </a:extLst>
          </p:cNvPr>
          <p:cNvSpPr/>
          <p:nvPr/>
        </p:nvSpPr>
        <p:spPr>
          <a:xfrm>
            <a:off x="3388237" y="3452374"/>
            <a:ext cx="2395728" cy="685800"/>
          </a:xfrm>
          <a:prstGeom prst="rect">
            <a:avLst/>
          </a:prstGeom>
          <a:noFill/>
          <a:ln/>
        </p:spPr>
        <p:txBody>
          <a:bodyPr wrap="square" lIns="0" tIns="0" rIns="0" bIns="0" rtlCol="0" anchor="ctr"/>
          <a:lstStyle/>
          <a:p>
            <a:pPr marL="0" indent="0">
              <a:buNone/>
            </a:pPr>
            <a:r>
              <a:rPr lang="en-US" sz="1100">
                <a:solidFill>
                  <a:srgbClr val="CCCCCC"/>
                </a:solidFill>
                <a:latin typeface="Calibri"/>
                <a:ea typeface="Calibri"/>
                <a:cs typeface="Calibri"/>
              </a:rPr>
              <a:t>Phase 1: Amazon, website, medical retailers</a:t>
            </a:r>
            <a:endParaRPr lang="en-US" sz="1100">
              <a:latin typeface="Calibri"/>
              <a:ea typeface="Calibri"/>
              <a:cs typeface="Calibri"/>
            </a:endParaRPr>
          </a:p>
          <a:p>
            <a:r>
              <a:rPr lang="en-US" sz="1100">
                <a:solidFill>
                  <a:srgbClr val="CCCCCC"/>
                </a:solidFill>
                <a:latin typeface="Calibri"/>
                <a:ea typeface="Calibri"/>
                <a:cs typeface="Calibri"/>
              </a:rPr>
              <a:t>Phase 2: FDA 510(k) → insurance reimbursement/medical sales</a:t>
            </a:r>
            <a:endParaRPr lang="en-US" sz="1100">
              <a:solidFill>
                <a:srgbClr val="000000"/>
              </a:solidFill>
              <a:ea typeface="Calibri"/>
              <a:cs typeface="Calibri"/>
            </a:endParaRPr>
          </a:p>
        </p:txBody>
      </p:sp>
      <p:sp>
        <p:nvSpPr>
          <p:cNvPr id="76" name="Text 27">
            <a:extLst>
              <a:ext uri="{FF2B5EF4-FFF2-40B4-BE49-F238E27FC236}">
                <a16:creationId xmlns:a16="http://schemas.microsoft.com/office/drawing/2014/main" id="{5FC2E20A-66E0-862D-A15D-56EBE71CA9F9}"/>
              </a:ext>
            </a:extLst>
          </p:cNvPr>
          <p:cNvSpPr/>
          <p:nvPr/>
        </p:nvSpPr>
        <p:spPr>
          <a:xfrm>
            <a:off x="3388237" y="4193038"/>
            <a:ext cx="2395728" cy="320040"/>
          </a:xfrm>
          <a:prstGeom prst="rect">
            <a:avLst/>
          </a:prstGeom>
          <a:noFill/>
          <a:ln/>
        </p:spPr>
        <p:txBody>
          <a:bodyPr wrap="square" lIns="0" tIns="0" rIns="0" bIns="0" rtlCol="0" anchor="ctr"/>
          <a:lstStyle/>
          <a:p>
            <a:pPr marL="0" indent="0">
              <a:buNone/>
            </a:pPr>
            <a:r>
              <a:rPr lang="en-US" sz="1000" i="1">
                <a:solidFill>
                  <a:srgbClr val="999999"/>
                </a:solidFill>
                <a:latin typeface="Calibri" pitchFamily="34" charset="0"/>
                <a:ea typeface="Calibri" pitchFamily="34" charset="-122"/>
                <a:cs typeface="Calibri" pitchFamily="34" charset="-120"/>
              </a:rPr>
              <a:t>Consumer launch funds the medical pipeline.</a:t>
            </a:r>
            <a:endParaRPr lang="en-US" sz="1000"/>
          </a:p>
        </p:txBody>
      </p:sp>
      <p:sp>
        <p:nvSpPr>
          <p:cNvPr id="78" name="Shape 28">
            <a:extLst>
              <a:ext uri="{FF2B5EF4-FFF2-40B4-BE49-F238E27FC236}">
                <a16:creationId xmlns:a16="http://schemas.microsoft.com/office/drawing/2014/main" id="{92BA0039-33D3-3751-6CEE-747DA233945E}"/>
              </a:ext>
            </a:extLst>
          </p:cNvPr>
          <p:cNvSpPr/>
          <p:nvPr/>
        </p:nvSpPr>
        <p:spPr>
          <a:xfrm>
            <a:off x="6259453" y="2839726"/>
            <a:ext cx="2651760" cy="1783080"/>
          </a:xfrm>
          <a:prstGeom prst="rect">
            <a:avLst/>
          </a:prstGeom>
          <a:solidFill>
            <a:srgbClr val="9B0000"/>
          </a:solidFill>
          <a:ln w="6350">
            <a:solidFill>
              <a:srgbClr val="7A0000"/>
            </a:solidFill>
            <a:prstDash val="solid"/>
          </a:ln>
          <a:effectLst>
            <a:outerShdw blurRad="101600" dist="38100" dir="8100000" algn="bl" rotWithShape="0">
              <a:srgbClr val="000000">
                <a:alpha val="40000"/>
              </a:srgbClr>
            </a:outerShdw>
          </a:effectLst>
        </p:spPr>
        <p:txBody>
          <a:bodyPr/>
          <a:lstStyle/>
          <a:p>
            <a:endParaRPr lang="en-US"/>
          </a:p>
        </p:txBody>
      </p:sp>
      <p:sp>
        <p:nvSpPr>
          <p:cNvPr id="80" name="Text 29">
            <a:extLst>
              <a:ext uri="{FF2B5EF4-FFF2-40B4-BE49-F238E27FC236}">
                <a16:creationId xmlns:a16="http://schemas.microsoft.com/office/drawing/2014/main" id="{3FD0E1EE-AAAB-7F67-4BDB-AA742EFCBEE4}"/>
              </a:ext>
            </a:extLst>
          </p:cNvPr>
          <p:cNvSpPr/>
          <p:nvPr/>
        </p:nvSpPr>
        <p:spPr>
          <a:xfrm>
            <a:off x="6442333" y="2931166"/>
            <a:ext cx="2377440" cy="822960"/>
          </a:xfrm>
          <a:prstGeom prst="rect">
            <a:avLst/>
          </a:prstGeom>
          <a:noFill/>
          <a:ln/>
        </p:spPr>
        <p:txBody>
          <a:bodyPr wrap="square" lIns="0" tIns="0" rIns="0" bIns="0" rtlCol="0" anchor="ctr"/>
          <a:lstStyle/>
          <a:p>
            <a:pPr marL="0" indent="0">
              <a:buNone/>
            </a:pPr>
            <a:r>
              <a:rPr lang="en-US" sz="2000" b="1">
                <a:solidFill>
                  <a:srgbClr val="FFFFFF"/>
                </a:solidFill>
                <a:latin typeface="Arial Black" pitchFamily="34" charset="0"/>
                <a:ea typeface="Arial Black" pitchFamily="34" charset="-122"/>
                <a:cs typeface="Arial Black" pitchFamily="34" charset="-120"/>
              </a:rPr>
              <a:t>Let's keep more</a:t>
            </a:r>
            <a:endParaRPr lang="en-US" sz="2000"/>
          </a:p>
          <a:p>
            <a:pPr marL="0" indent="0">
              <a:buNone/>
            </a:pPr>
            <a:r>
              <a:rPr lang="en-US" sz="2000" b="1">
                <a:solidFill>
                  <a:srgbClr val="FFFFFF"/>
                </a:solidFill>
                <a:latin typeface="Arial Black" pitchFamily="34" charset="0"/>
                <a:ea typeface="Arial Black" pitchFamily="34" charset="-122"/>
                <a:cs typeface="Arial Black" pitchFamily="34" charset="-120"/>
              </a:rPr>
              <a:t>hands warm.</a:t>
            </a:r>
            <a:endParaRPr lang="en-US" sz="2000"/>
          </a:p>
        </p:txBody>
      </p:sp>
      <p:sp>
        <p:nvSpPr>
          <p:cNvPr id="82" name="Text 30">
            <a:extLst>
              <a:ext uri="{FF2B5EF4-FFF2-40B4-BE49-F238E27FC236}">
                <a16:creationId xmlns:a16="http://schemas.microsoft.com/office/drawing/2014/main" id="{52C8266A-DB28-6605-8EA4-C47C57B6D3E5}"/>
              </a:ext>
            </a:extLst>
          </p:cNvPr>
          <p:cNvSpPr/>
          <p:nvPr/>
        </p:nvSpPr>
        <p:spPr>
          <a:xfrm>
            <a:off x="6442333" y="3754126"/>
            <a:ext cx="2377440" cy="384048"/>
          </a:xfrm>
          <a:prstGeom prst="rect">
            <a:avLst/>
          </a:prstGeom>
          <a:noFill/>
          <a:ln/>
        </p:spPr>
        <p:txBody>
          <a:bodyPr wrap="square" lIns="0" tIns="0" rIns="0" bIns="0" rtlCol="0" anchor="ctr"/>
          <a:lstStyle/>
          <a:p>
            <a:pPr marL="0" indent="0">
              <a:buNone/>
            </a:pPr>
            <a:r>
              <a:rPr lang="en-US" sz="1600" b="1">
                <a:solidFill>
                  <a:srgbClr val="FFDDDD"/>
                </a:solidFill>
                <a:latin typeface="Arial Black" pitchFamily="34" charset="0"/>
                <a:ea typeface="Arial Black" pitchFamily="34" charset="-122"/>
                <a:cs typeface="Arial Black" pitchFamily="34" charset="-120"/>
              </a:rPr>
              <a:t>Invest in the Hot Rod.</a:t>
            </a:r>
            <a:endParaRPr lang="en-US" sz="1600"/>
          </a:p>
        </p:txBody>
      </p:sp>
    </p:spTree>
    <p:extLst>
      <p:ext uri="{BB962C8B-B14F-4D97-AF65-F5344CB8AC3E}">
        <p14:creationId xmlns:p14="http://schemas.microsoft.com/office/powerpoint/2010/main" val="14834474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12</Slides>
  <Notes>12</Notes>
  <HiddenSlides>0</HiddenSlide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revision>2</cp:revision>
  <dcterms:created xsi:type="dcterms:W3CDTF">2026-04-14T20:03:21Z</dcterms:created>
  <dcterms:modified xsi:type="dcterms:W3CDTF">2026-04-30T01:29:46Z</dcterms:modified>
</cp:coreProperties>
</file>